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300" r:id="rId2"/>
    <p:sldId id="268" r:id="rId3"/>
    <p:sldId id="269" r:id="rId4"/>
    <p:sldId id="275" r:id="rId5"/>
    <p:sldId id="273" r:id="rId6"/>
    <p:sldId id="274" r:id="rId7"/>
    <p:sldId id="276" r:id="rId8"/>
    <p:sldId id="277" r:id="rId9"/>
    <p:sldId id="278" r:id="rId10"/>
    <p:sldId id="279" r:id="rId11"/>
    <p:sldId id="282" r:id="rId12"/>
    <p:sldId id="281" r:id="rId13"/>
    <p:sldId id="280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B991"/>
    <a:srgbClr val="DCEAF7"/>
    <a:srgbClr val="E4DBFD"/>
    <a:srgbClr val="E7EEF1"/>
    <a:srgbClr val="B9A26F"/>
    <a:srgbClr val="DED3FD"/>
    <a:srgbClr val="FEF3C7"/>
    <a:srgbClr val="865EF8"/>
    <a:srgbClr val="A78BFA"/>
    <a:srgbClr val="FF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5" autoAdjust="0"/>
    <p:restoredTop sz="94660"/>
  </p:normalViewPr>
  <p:slideViewPr>
    <p:cSldViewPr snapToGrid="0">
      <p:cViewPr varScale="1">
        <p:scale>
          <a:sx n="61" d="100"/>
          <a:sy n="61" d="100"/>
        </p:scale>
        <p:origin x="916" y="4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27F37A-72E2-40F1-932C-2D68813C78E2}" type="doc">
      <dgm:prSet loTypeId="urn:microsoft.com/office/officeart/2005/8/layout/vList2" loCatId="list" qsTypeId="urn:microsoft.com/office/officeart/2005/8/quickstyle/simple5" qsCatId="simple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EFDFB10F-1F1A-446F-90E5-7C73C0CA6BFC}">
      <dgm:prSet/>
      <dgm:spPr>
        <a:solidFill>
          <a:srgbClr val="E7EEF1"/>
        </a:solidFill>
      </dgm:spPr>
      <dgm:t>
        <a:bodyPr/>
        <a:lstStyle/>
        <a:p>
          <a:pPr algn="ctr"/>
          <a:r>
            <a:rPr lang="fr-FR" b="1" dirty="0" err="1">
              <a:solidFill>
                <a:srgbClr val="002060"/>
              </a:solidFill>
            </a:rPr>
            <a:t>Reporting</a:t>
          </a:r>
          <a:r>
            <a:rPr lang="fr-FR" b="1" dirty="0">
              <a:solidFill>
                <a:srgbClr val="002060"/>
              </a:solidFill>
            </a:rPr>
            <a:t> ESG : Définition et Enjeux</a:t>
          </a:r>
        </a:p>
      </dgm:t>
    </dgm:pt>
    <dgm:pt modelId="{7CBB1C70-35EB-400C-9E62-05DC813F32B2}" type="parTrans" cxnId="{6CBD410A-7BBD-421B-ADD6-889379244425}">
      <dgm:prSet/>
      <dgm:spPr/>
      <dgm:t>
        <a:bodyPr/>
        <a:lstStyle/>
        <a:p>
          <a:endParaRPr lang="fr-FR"/>
        </a:p>
      </dgm:t>
    </dgm:pt>
    <dgm:pt modelId="{B3B4279E-1145-414D-B25C-A2777DD02052}" type="sibTrans" cxnId="{6CBD410A-7BBD-421B-ADD6-889379244425}">
      <dgm:prSet/>
      <dgm:spPr/>
      <dgm:t>
        <a:bodyPr/>
        <a:lstStyle/>
        <a:p>
          <a:endParaRPr lang="fr-FR"/>
        </a:p>
      </dgm:t>
    </dgm:pt>
    <dgm:pt modelId="{6CA3E622-92C4-4D95-AC3C-9DD0CCA7A9F4}">
      <dgm:prSet/>
      <dgm:spPr>
        <a:solidFill>
          <a:srgbClr val="E7EEF1"/>
        </a:solidFill>
      </dgm:spPr>
      <dgm:t>
        <a:bodyPr/>
        <a:lstStyle/>
        <a:p>
          <a:pPr algn="ctr"/>
          <a:r>
            <a:rPr lang="fr-FR" b="1" dirty="0">
              <a:solidFill>
                <a:srgbClr val="002060"/>
              </a:solidFill>
            </a:rPr>
            <a:t>Problématique et Solution</a:t>
          </a:r>
        </a:p>
      </dgm:t>
    </dgm:pt>
    <dgm:pt modelId="{06CC6397-C5C5-4703-8760-014861F6378A}" type="parTrans" cxnId="{0E46E108-2EE8-43EB-A454-F2C923E63D16}">
      <dgm:prSet/>
      <dgm:spPr/>
      <dgm:t>
        <a:bodyPr/>
        <a:lstStyle/>
        <a:p>
          <a:endParaRPr lang="fr-FR"/>
        </a:p>
      </dgm:t>
    </dgm:pt>
    <dgm:pt modelId="{A880F9C4-DAE7-4569-8F9C-2854F95B9B2D}" type="sibTrans" cxnId="{0E46E108-2EE8-43EB-A454-F2C923E63D16}">
      <dgm:prSet/>
      <dgm:spPr/>
      <dgm:t>
        <a:bodyPr/>
        <a:lstStyle/>
        <a:p>
          <a:endParaRPr lang="fr-FR"/>
        </a:p>
      </dgm:t>
    </dgm:pt>
    <dgm:pt modelId="{67FA5F35-48A9-452E-BC14-93CC834EF1A4}">
      <dgm:prSet/>
      <dgm:spPr>
        <a:solidFill>
          <a:srgbClr val="E7EEF1"/>
        </a:solidFill>
      </dgm:spPr>
      <dgm:t>
        <a:bodyPr/>
        <a:lstStyle/>
        <a:p>
          <a:pPr algn="ctr"/>
          <a:r>
            <a:rPr lang="fr-FR" b="1" dirty="0">
              <a:solidFill>
                <a:schemeClr val="tx2"/>
              </a:solidFill>
            </a:rPr>
            <a:t>Architecture du Système</a:t>
          </a:r>
          <a:endParaRPr lang="fr-FR" b="1" dirty="0">
            <a:solidFill>
              <a:srgbClr val="002060"/>
            </a:solidFill>
          </a:endParaRPr>
        </a:p>
      </dgm:t>
    </dgm:pt>
    <dgm:pt modelId="{E3A7E3E1-9EA7-4373-947C-AC5D27870C78}" type="parTrans" cxnId="{23773ECF-A356-4A84-9B9B-2087F47E1CFC}">
      <dgm:prSet/>
      <dgm:spPr/>
      <dgm:t>
        <a:bodyPr/>
        <a:lstStyle/>
        <a:p>
          <a:endParaRPr lang="fr-FR"/>
        </a:p>
      </dgm:t>
    </dgm:pt>
    <dgm:pt modelId="{C40B0FA7-D6E2-40AA-BA75-4995FFC76BA6}" type="sibTrans" cxnId="{23773ECF-A356-4A84-9B9B-2087F47E1CFC}">
      <dgm:prSet/>
      <dgm:spPr/>
      <dgm:t>
        <a:bodyPr/>
        <a:lstStyle/>
        <a:p>
          <a:endParaRPr lang="fr-FR"/>
        </a:p>
      </dgm:t>
    </dgm:pt>
    <dgm:pt modelId="{6C26FCEE-B1C2-4B60-8AA0-ECE7BF7694E1}">
      <dgm:prSet/>
      <dgm:spPr>
        <a:solidFill>
          <a:srgbClr val="E7EEF1"/>
        </a:solidFill>
      </dgm:spPr>
      <dgm:t>
        <a:bodyPr/>
        <a:lstStyle/>
        <a:p>
          <a:pPr algn="ctr"/>
          <a:r>
            <a:rPr lang="fr-FR" b="1" dirty="0">
              <a:solidFill>
                <a:srgbClr val="002060"/>
              </a:solidFill>
            </a:rPr>
            <a:t>Conception du Système</a:t>
          </a:r>
        </a:p>
      </dgm:t>
    </dgm:pt>
    <dgm:pt modelId="{40AD2889-155B-4772-B146-E917A5FEE4E1}" type="parTrans" cxnId="{047DE4AF-2939-4688-93C9-48F264535E75}">
      <dgm:prSet/>
      <dgm:spPr/>
      <dgm:t>
        <a:bodyPr/>
        <a:lstStyle/>
        <a:p>
          <a:endParaRPr lang="fr-FR"/>
        </a:p>
      </dgm:t>
    </dgm:pt>
    <dgm:pt modelId="{6E7F5AC6-A87A-4A8F-AE0D-9C3A82F53800}" type="sibTrans" cxnId="{047DE4AF-2939-4688-93C9-48F264535E75}">
      <dgm:prSet/>
      <dgm:spPr/>
      <dgm:t>
        <a:bodyPr/>
        <a:lstStyle/>
        <a:p>
          <a:endParaRPr lang="fr-FR"/>
        </a:p>
      </dgm:t>
    </dgm:pt>
    <dgm:pt modelId="{D6B544DB-E9FF-40BB-85E4-DFCEFA4C7E43}">
      <dgm:prSet/>
      <dgm:spPr>
        <a:solidFill>
          <a:srgbClr val="E7EEF1"/>
        </a:solidFill>
      </dgm:spPr>
      <dgm:t>
        <a:bodyPr/>
        <a:lstStyle/>
        <a:p>
          <a:pPr algn="ctr"/>
          <a:r>
            <a:rPr lang="fr-FR" b="1" dirty="0">
              <a:solidFill>
                <a:srgbClr val="002060"/>
              </a:solidFill>
            </a:rPr>
            <a:t>Réalisation et Démonstration</a:t>
          </a:r>
        </a:p>
      </dgm:t>
    </dgm:pt>
    <dgm:pt modelId="{23887383-5F6E-4EB7-93E1-63C2BA88716B}" type="parTrans" cxnId="{A7B7AD14-F371-46CC-B562-03E4B240834C}">
      <dgm:prSet/>
      <dgm:spPr/>
      <dgm:t>
        <a:bodyPr/>
        <a:lstStyle/>
        <a:p>
          <a:endParaRPr lang="fr-FR"/>
        </a:p>
      </dgm:t>
    </dgm:pt>
    <dgm:pt modelId="{376D9C23-E74C-4BBE-A8D6-AEA2DA583623}" type="sibTrans" cxnId="{A7B7AD14-F371-46CC-B562-03E4B240834C}">
      <dgm:prSet/>
      <dgm:spPr/>
      <dgm:t>
        <a:bodyPr/>
        <a:lstStyle/>
        <a:p>
          <a:endParaRPr lang="fr-FR"/>
        </a:p>
      </dgm:t>
    </dgm:pt>
    <dgm:pt modelId="{7DA1B26F-25F6-4FA5-8BF6-AF5BEF7745D8}">
      <dgm:prSet/>
      <dgm:spPr>
        <a:solidFill>
          <a:srgbClr val="E7EEF1"/>
        </a:solidFill>
      </dgm:spPr>
      <dgm:t>
        <a:bodyPr/>
        <a:lstStyle/>
        <a:p>
          <a:pPr algn="ctr"/>
          <a:r>
            <a:rPr lang="fr-FR" b="1" dirty="0">
              <a:solidFill>
                <a:srgbClr val="002060"/>
              </a:solidFill>
            </a:rPr>
            <a:t>Conclusion et Perspectives</a:t>
          </a:r>
        </a:p>
      </dgm:t>
    </dgm:pt>
    <dgm:pt modelId="{305ABAB9-859F-4079-B3A8-F49F9DCC1964}" type="parTrans" cxnId="{3F3CCA9D-ECE8-4366-AAFD-56C929B4D460}">
      <dgm:prSet/>
      <dgm:spPr/>
      <dgm:t>
        <a:bodyPr/>
        <a:lstStyle/>
        <a:p>
          <a:endParaRPr lang="fr-FR"/>
        </a:p>
      </dgm:t>
    </dgm:pt>
    <dgm:pt modelId="{12237276-88B5-4F6A-81CB-05CB01A020CB}" type="sibTrans" cxnId="{3F3CCA9D-ECE8-4366-AAFD-56C929B4D460}">
      <dgm:prSet/>
      <dgm:spPr/>
      <dgm:t>
        <a:bodyPr/>
        <a:lstStyle/>
        <a:p>
          <a:endParaRPr lang="fr-FR"/>
        </a:p>
      </dgm:t>
    </dgm:pt>
    <dgm:pt modelId="{C298C940-FBAA-4D14-8544-966BB200068A}">
      <dgm:prSet/>
      <dgm:spPr>
        <a:solidFill>
          <a:srgbClr val="E7EEF1"/>
        </a:solidFill>
      </dgm:spPr>
      <dgm:t>
        <a:bodyPr/>
        <a:lstStyle/>
        <a:p>
          <a:pPr algn="ctr"/>
          <a:r>
            <a:rPr lang="fr-FR" b="1" dirty="0">
              <a:solidFill>
                <a:srgbClr val="002060"/>
              </a:solidFill>
            </a:rPr>
            <a:t>Résultats et Apports</a:t>
          </a:r>
          <a:endParaRPr lang="fr-FR" b="1" dirty="0">
            <a:solidFill>
              <a:schemeClr val="tx2"/>
            </a:solidFill>
          </a:endParaRPr>
        </a:p>
      </dgm:t>
    </dgm:pt>
    <dgm:pt modelId="{CF88BF6F-C26D-4808-9EEE-5298D8818644}" type="parTrans" cxnId="{48CEE941-4EAE-4674-A789-09747C448506}">
      <dgm:prSet/>
      <dgm:spPr/>
      <dgm:t>
        <a:bodyPr/>
        <a:lstStyle/>
        <a:p>
          <a:endParaRPr lang="fr-FR"/>
        </a:p>
      </dgm:t>
    </dgm:pt>
    <dgm:pt modelId="{F4E02C7D-F675-45C2-8E10-F9C0C6FADE9D}" type="sibTrans" cxnId="{48CEE941-4EAE-4674-A789-09747C448506}">
      <dgm:prSet/>
      <dgm:spPr/>
      <dgm:t>
        <a:bodyPr/>
        <a:lstStyle/>
        <a:p>
          <a:endParaRPr lang="fr-FR"/>
        </a:p>
      </dgm:t>
    </dgm:pt>
    <dgm:pt modelId="{2A506FC5-C5F5-47CB-AC4E-FC75BC6EFE2A}" type="pres">
      <dgm:prSet presAssocID="{4027F37A-72E2-40F1-932C-2D68813C78E2}" presName="linear" presStyleCnt="0">
        <dgm:presLayoutVars>
          <dgm:animLvl val="lvl"/>
          <dgm:resizeHandles val="exact"/>
        </dgm:presLayoutVars>
      </dgm:prSet>
      <dgm:spPr/>
    </dgm:pt>
    <dgm:pt modelId="{E538DA96-73B9-4955-956D-70A06603D9FF}" type="pres">
      <dgm:prSet presAssocID="{EFDFB10F-1F1A-446F-90E5-7C73C0CA6BFC}" presName="parentText" presStyleLbl="node1" presStyleIdx="0" presStyleCnt="7" custLinFactNeighborY="57519">
        <dgm:presLayoutVars>
          <dgm:chMax val="0"/>
          <dgm:bulletEnabled val="1"/>
        </dgm:presLayoutVars>
      </dgm:prSet>
      <dgm:spPr/>
    </dgm:pt>
    <dgm:pt modelId="{AD6E5154-3F62-443E-807B-6722AFEBA8C1}" type="pres">
      <dgm:prSet presAssocID="{B3B4279E-1145-414D-B25C-A2777DD02052}" presName="spacer" presStyleCnt="0"/>
      <dgm:spPr/>
    </dgm:pt>
    <dgm:pt modelId="{CDC1E5D8-910B-4D38-B7E0-79BD0BF4D64E}" type="pres">
      <dgm:prSet presAssocID="{6CA3E622-92C4-4D95-AC3C-9DD0CCA7A9F4}" presName="parentText" presStyleLbl="node1" presStyleIdx="1" presStyleCnt="7" custLinFactNeighborY="19173">
        <dgm:presLayoutVars>
          <dgm:chMax val="0"/>
          <dgm:bulletEnabled val="1"/>
        </dgm:presLayoutVars>
      </dgm:prSet>
      <dgm:spPr/>
    </dgm:pt>
    <dgm:pt modelId="{3C2298ED-95E5-4689-BBBE-57BD9D2F4577}" type="pres">
      <dgm:prSet presAssocID="{A880F9C4-DAE7-4569-8F9C-2854F95B9B2D}" presName="spacer" presStyleCnt="0"/>
      <dgm:spPr/>
    </dgm:pt>
    <dgm:pt modelId="{1C25E120-A4D0-40CA-976A-4DC7D7A1CD3C}" type="pres">
      <dgm:prSet presAssocID="{67FA5F35-48A9-452E-BC14-93CC834EF1A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D36771E-5BC7-4A7A-B8E2-9088FE60EC4F}" type="pres">
      <dgm:prSet presAssocID="{C40B0FA7-D6E2-40AA-BA75-4995FFC76BA6}" presName="spacer" presStyleCnt="0"/>
      <dgm:spPr/>
    </dgm:pt>
    <dgm:pt modelId="{C0311A7D-891A-4076-A7C0-4222DDBA3B42}" type="pres">
      <dgm:prSet presAssocID="{6C26FCEE-B1C2-4B60-8AA0-ECE7BF7694E1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667A868D-9DAD-4F58-A97D-DAD15CE7BFC8}" type="pres">
      <dgm:prSet presAssocID="{6E7F5AC6-A87A-4A8F-AE0D-9C3A82F53800}" presName="spacer" presStyleCnt="0"/>
      <dgm:spPr/>
    </dgm:pt>
    <dgm:pt modelId="{39B9E616-B7A4-40BD-925A-CBEF6E378DF6}" type="pres">
      <dgm:prSet presAssocID="{D6B544DB-E9FF-40BB-85E4-DFCEFA4C7E43}" presName="parentText" presStyleLbl="node1" presStyleIdx="4" presStyleCnt="7" custLinFactNeighborY="24218">
        <dgm:presLayoutVars>
          <dgm:chMax val="0"/>
          <dgm:bulletEnabled val="1"/>
        </dgm:presLayoutVars>
      </dgm:prSet>
      <dgm:spPr/>
    </dgm:pt>
    <dgm:pt modelId="{DE46FD48-037C-4D09-9B4A-F32F972340B3}" type="pres">
      <dgm:prSet presAssocID="{376D9C23-E74C-4BBE-A8D6-AEA2DA583623}" presName="spacer" presStyleCnt="0"/>
      <dgm:spPr/>
    </dgm:pt>
    <dgm:pt modelId="{73E77490-D226-43D3-BE13-86FA954A461F}" type="pres">
      <dgm:prSet presAssocID="{C298C940-FBAA-4D14-8544-966BB200068A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B4AD203F-2F07-4CE5-B182-BF1B65CECEF6}" type="pres">
      <dgm:prSet presAssocID="{F4E02C7D-F675-45C2-8E10-F9C0C6FADE9D}" presName="spacer" presStyleCnt="0"/>
      <dgm:spPr/>
    </dgm:pt>
    <dgm:pt modelId="{2E1269D3-97E2-46A2-BAC1-8624CA71138A}" type="pres">
      <dgm:prSet presAssocID="{7DA1B26F-25F6-4FA5-8BF6-AF5BEF7745D8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0E46E108-2EE8-43EB-A454-F2C923E63D16}" srcId="{4027F37A-72E2-40F1-932C-2D68813C78E2}" destId="{6CA3E622-92C4-4D95-AC3C-9DD0CCA7A9F4}" srcOrd="1" destOrd="0" parTransId="{06CC6397-C5C5-4703-8760-014861F6378A}" sibTransId="{A880F9C4-DAE7-4569-8F9C-2854F95B9B2D}"/>
    <dgm:cxn modelId="{6CBD410A-7BBD-421B-ADD6-889379244425}" srcId="{4027F37A-72E2-40F1-932C-2D68813C78E2}" destId="{EFDFB10F-1F1A-446F-90E5-7C73C0CA6BFC}" srcOrd="0" destOrd="0" parTransId="{7CBB1C70-35EB-400C-9E62-05DC813F32B2}" sibTransId="{B3B4279E-1145-414D-B25C-A2777DD02052}"/>
    <dgm:cxn modelId="{A7B7AD14-F371-46CC-B562-03E4B240834C}" srcId="{4027F37A-72E2-40F1-932C-2D68813C78E2}" destId="{D6B544DB-E9FF-40BB-85E4-DFCEFA4C7E43}" srcOrd="4" destOrd="0" parTransId="{23887383-5F6E-4EB7-93E1-63C2BA88716B}" sibTransId="{376D9C23-E74C-4BBE-A8D6-AEA2DA583623}"/>
    <dgm:cxn modelId="{48CEE941-4EAE-4674-A789-09747C448506}" srcId="{4027F37A-72E2-40F1-932C-2D68813C78E2}" destId="{C298C940-FBAA-4D14-8544-966BB200068A}" srcOrd="5" destOrd="0" parTransId="{CF88BF6F-C26D-4808-9EEE-5298D8818644}" sibTransId="{F4E02C7D-F675-45C2-8E10-F9C0C6FADE9D}"/>
    <dgm:cxn modelId="{08816953-7FC1-4EC7-BA2F-03DC656D6C1D}" type="presOf" srcId="{7DA1B26F-25F6-4FA5-8BF6-AF5BEF7745D8}" destId="{2E1269D3-97E2-46A2-BAC1-8624CA71138A}" srcOrd="0" destOrd="0" presId="urn:microsoft.com/office/officeart/2005/8/layout/vList2"/>
    <dgm:cxn modelId="{A31E9557-FC12-4498-8259-1FF637A195B7}" type="presOf" srcId="{4027F37A-72E2-40F1-932C-2D68813C78E2}" destId="{2A506FC5-C5F5-47CB-AC4E-FC75BC6EFE2A}" srcOrd="0" destOrd="0" presId="urn:microsoft.com/office/officeart/2005/8/layout/vList2"/>
    <dgm:cxn modelId="{C36A6A95-94F3-4A4E-AE68-B69EFE19E55A}" type="presOf" srcId="{6C26FCEE-B1C2-4B60-8AA0-ECE7BF7694E1}" destId="{C0311A7D-891A-4076-A7C0-4222DDBA3B42}" srcOrd="0" destOrd="0" presId="urn:microsoft.com/office/officeart/2005/8/layout/vList2"/>
    <dgm:cxn modelId="{3F3CCA9D-ECE8-4366-AAFD-56C929B4D460}" srcId="{4027F37A-72E2-40F1-932C-2D68813C78E2}" destId="{7DA1B26F-25F6-4FA5-8BF6-AF5BEF7745D8}" srcOrd="6" destOrd="0" parTransId="{305ABAB9-859F-4079-B3A8-F49F9DCC1964}" sibTransId="{12237276-88B5-4F6A-81CB-05CB01A020CB}"/>
    <dgm:cxn modelId="{047DE4AF-2939-4688-93C9-48F264535E75}" srcId="{4027F37A-72E2-40F1-932C-2D68813C78E2}" destId="{6C26FCEE-B1C2-4B60-8AA0-ECE7BF7694E1}" srcOrd="3" destOrd="0" parTransId="{40AD2889-155B-4772-B146-E917A5FEE4E1}" sibTransId="{6E7F5AC6-A87A-4A8F-AE0D-9C3A82F53800}"/>
    <dgm:cxn modelId="{4B240DC8-D3E9-46A2-BB7E-3C44E26CEE4C}" type="presOf" srcId="{D6B544DB-E9FF-40BB-85E4-DFCEFA4C7E43}" destId="{39B9E616-B7A4-40BD-925A-CBEF6E378DF6}" srcOrd="0" destOrd="0" presId="urn:microsoft.com/office/officeart/2005/8/layout/vList2"/>
    <dgm:cxn modelId="{23773ECF-A356-4A84-9B9B-2087F47E1CFC}" srcId="{4027F37A-72E2-40F1-932C-2D68813C78E2}" destId="{67FA5F35-48A9-452E-BC14-93CC834EF1A4}" srcOrd="2" destOrd="0" parTransId="{E3A7E3E1-9EA7-4373-947C-AC5D27870C78}" sibTransId="{C40B0FA7-D6E2-40AA-BA75-4995FFC76BA6}"/>
    <dgm:cxn modelId="{9B9510D6-1009-4CA1-81E5-954EA6B27306}" type="presOf" srcId="{67FA5F35-48A9-452E-BC14-93CC834EF1A4}" destId="{1C25E120-A4D0-40CA-976A-4DC7D7A1CD3C}" srcOrd="0" destOrd="0" presId="urn:microsoft.com/office/officeart/2005/8/layout/vList2"/>
    <dgm:cxn modelId="{437339DB-9BC5-4592-A2E1-D9CC2913DFD8}" type="presOf" srcId="{C298C940-FBAA-4D14-8544-966BB200068A}" destId="{73E77490-D226-43D3-BE13-86FA954A461F}" srcOrd="0" destOrd="0" presId="urn:microsoft.com/office/officeart/2005/8/layout/vList2"/>
    <dgm:cxn modelId="{72B697E6-C03E-4671-B241-636BE307CD87}" type="presOf" srcId="{6CA3E622-92C4-4D95-AC3C-9DD0CCA7A9F4}" destId="{CDC1E5D8-910B-4D38-B7E0-79BD0BF4D64E}" srcOrd="0" destOrd="0" presId="urn:microsoft.com/office/officeart/2005/8/layout/vList2"/>
    <dgm:cxn modelId="{8534ECF5-3AED-46BC-A69D-8BAAA7C721C9}" type="presOf" srcId="{EFDFB10F-1F1A-446F-90E5-7C73C0CA6BFC}" destId="{E538DA96-73B9-4955-956D-70A06603D9FF}" srcOrd="0" destOrd="0" presId="urn:microsoft.com/office/officeart/2005/8/layout/vList2"/>
    <dgm:cxn modelId="{EC1EE5C3-3DCB-4B4E-8A0F-EE9A055FF0C3}" type="presParOf" srcId="{2A506FC5-C5F5-47CB-AC4E-FC75BC6EFE2A}" destId="{E538DA96-73B9-4955-956D-70A06603D9FF}" srcOrd="0" destOrd="0" presId="urn:microsoft.com/office/officeart/2005/8/layout/vList2"/>
    <dgm:cxn modelId="{C9FC2CC5-0DB7-4E3B-B71E-0942EE2407C7}" type="presParOf" srcId="{2A506FC5-C5F5-47CB-AC4E-FC75BC6EFE2A}" destId="{AD6E5154-3F62-443E-807B-6722AFEBA8C1}" srcOrd="1" destOrd="0" presId="urn:microsoft.com/office/officeart/2005/8/layout/vList2"/>
    <dgm:cxn modelId="{1398817D-2EB8-40EA-9ABE-BCFFDF9F76C2}" type="presParOf" srcId="{2A506FC5-C5F5-47CB-AC4E-FC75BC6EFE2A}" destId="{CDC1E5D8-910B-4D38-B7E0-79BD0BF4D64E}" srcOrd="2" destOrd="0" presId="urn:microsoft.com/office/officeart/2005/8/layout/vList2"/>
    <dgm:cxn modelId="{028D166A-B71D-4643-B5E2-669273943538}" type="presParOf" srcId="{2A506FC5-C5F5-47CB-AC4E-FC75BC6EFE2A}" destId="{3C2298ED-95E5-4689-BBBE-57BD9D2F4577}" srcOrd="3" destOrd="0" presId="urn:microsoft.com/office/officeart/2005/8/layout/vList2"/>
    <dgm:cxn modelId="{C862BF22-0521-441D-9A68-63F1AA5531A8}" type="presParOf" srcId="{2A506FC5-C5F5-47CB-AC4E-FC75BC6EFE2A}" destId="{1C25E120-A4D0-40CA-976A-4DC7D7A1CD3C}" srcOrd="4" destOrd="0" presId="urn:microsoft.com/office/officeart/2005/8/layout/vList2"/>
    <dgm:cxn modelId="{4CA69079-0297-4E58-8248-8D3014A03FDE}" type="presParOf" srcId="{2A506FC5-C5F5-47CB-AC4E-FC75BC6EFE2A}" destId="{DD36771E-5BC7-4A7A-B8E2-9088FE60EC4F}" srcOrd="5" destOrd="0" presId="urn:microsoft.com/office/officeart/2005/8/layout/vList2"/>
    <dgm:cxn modelId="{D5A97F87-7F4A-41D6-B8EC-FE9B7659EF7C}" type="presParOf" srcId="{2A506FC5-C5F5-47CB-AC4E-FC75BC6EFE2A}" destId="{C0311A7D-891A-4076-A7C0-4222DDBA3B42}" srcOrd="6" destOrd="0" presId="urn:microsoft.com/office/officeart/2005/8/layout/vList2"/>
    <dgm:cxn modelId="{1FC7DB45-F916-4259-B16D-8C02D8842273}" type="presParOf" srcId="{2A506FC5-C5F5-47CB-AC4E-FC75BC6EFE2A}" destId="{667A868D-9DAD-4F58-A97D-DAD15CE7BFC8}" srcOrd="7" destOrd="0" presId="urn:microsoft.com/office/officeart/2005/8/layout/vList2"/>
    <dgm:cxn modelId="{2AD127F3-E094-4C84-9B33-98D56BB47925}" type="presParOf" srcId="{2A506FC5-C5F5-47CB-AC4E-FC75BC6EFE2A}" destId="{39B9E616-B7A4-40BD-925A-CBEF6E378DF6}" srcOrd="8" destOrd="0" presId="urn:microsoft.com/office/officeart/2005/8/layout/vList2"/>
    <dgm:cxn modelId="{451E9611-8C0C-452B-9A0E-5739B064AE6D}" type="presParOf" srcId="{2A506FC5-C5F5-47CB-AC4E-FC75BC6EFE2A}" destId="{DE46FD48-037C-4D09-9B4A-F32F972340B3}" srcOrd="9" destOrd="0" presId="urn:microsoft.com/office/officeart/2005/8/layout/vList2"/>
    <dgm:cxn modelId="{82C7C966-4B0A-4B7E-982F-80C93ACC3967}" type="presParOf" srcId="{2A506FC5-C5F5-47CB-AC4E-FC75BC6EFE2A}" destId="{73E77490-D226-43D3-BE13-86FA954A461F}" srcOrd="10" destOrd="0" presId="urn:microsoft.com/office/officeart/2005/8/layout/vList2"/>
    <dgm:cxn modelId="{E85C33AD-6030-40E2-AA37-4B5FB737306F}" type="presParOf" srcId="{2A506FC5-C5F5-47CB-AC4E-FC75BC6EFE2A}" destId="{B4AD203F-2F07-4CE5-B182-BF1B65CECEF6}" srcOrd="11" destOrd="0" presId="urn:microsoft.com/office/officeart/2005/8/layout/vList2"/>
    <dgm:cxn modelId="{1DF50EB5-9FE6-4EC0-BCD5-49BDA435D82C}" type="presParOf" srcId="{2A506FC5-C5F5-47CB-AC4E-FC75BC6EFE2A}" destId="{2E1269D3-97E2-46A2-BAC1-8624CA71138A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38DA96-73B9-4955-956D-70A06603D9FF}">
      <dsp:nvSpPr>
        <dsp:cNvPr id="0" name=""/>
        <dsp:cNvSpPr/>
      </dsp:nvSpPr>
      <dsp:spPr>
        <a:xfrm>
          <a:off x="0" y="86129"/>
          <a:ext cx="8019393" cy="638820"/>
        </a:xfrm>
        <a:prstGeom prst="roundRect">
          <a:avLst/>
        </a:prstGeom>
        <a:solidFill>
          <a:srgbClr val="E7EEF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kern="1200" dirty="0" err="1">
              <a:solidFill>
                <a:srgbClr val="002060"/>
              </a:solidFill>
            </a:rPr>
            <a:t>Reporting</a:t>
          </a:r>
          <a:r>
            <a:rPr lang="fr-FR" sz="2600" b="1" kern="1200" dirty="0">
              <a:solidFill>
                <a:srgbClr val="002060"/>
              </a:solidFill>
            </a:rPr>
            <a:t> ESG : Définition et Enjeux</a:t>
          </a:r>
        </a:p>
      </dsp:txBody>
      <dsp:txXfrm>
        <a:off x="31185" y="117314"/>
        <a:ext cx="7957023" cy="576450"/>
      </dsp:txXfrm>
    </dsp:sp>
    <dsp:sp modelId="{CDC1E5D8-910B-4D38-B7E0-79BD0BF4D64E}">
      <dsp:nvSpPr>
        <dsp:cNvPr id="0" name=""/>
        <dsp:cNvSpPr/>
      </dsp:nvSpPr>
      <dsp:spPr>
        <a:xfrm>
          <a:off x="0" y="771116"/>
          <a:ext cx="8019393" cy="638820"/>
        </a:xfrm>
        <a:prstGeom prst="roundRect">
          <a:avLst/>
        </a:prstGeom>
        <a:solidFill>
          <a:srgbClr val="E7EEF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kern="1200" dirty="0">
              <a:solidFill>
                <a:srgbClr val="002060"/>
              </a:solidFill>
            </a:rPr>
            <a:t>Problématique et Solution</a:t>
          </a:r>
        </a:p>
      </dsp:txBody>
      <dsp:txXfrm>
        <a:off x="31185" y="802301"/>
        <a:ext cx="7957023" cy="576450"/>
      </dsp:txXfrm>
    </dsp:sp>
    <dsp:sp modelId="{1C25E120-A4D0-40CA-976A-4DC7D7A1CD3C}">
      <dsp:nvSpPr>
        <dsp:cNvPr id="0" name=""/>
        <dsp:cNvSpPr/>
      </dsp:nvSpPr>
      <dsp:spPr>
        <a:xfrm>
          <a:off x="0" y="1470459"/>
          <a:ext cx="8019393" cy="638820"/>
        </a:xfrm>
        <a:prstGeom prst="roundRect">
          <a:avLst/>
        </a:prstGeom>
        <a:solidFill>
          <a:srgbClr val="E7EEF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kern="1200" dirty="0">
              <a:solidFill>
                <a:schemeClr val="tx2"/>
              </a:solidFill>
            </a:rPr>
            <a:t>Architecture du Système</a:t>
          </a:r>
          <a:endParaRPr lang="fr-FR" sz="2600" b="1" kern="1200" dirty="0">
            <a:solidFill>
              <a:srgbClr val="002060"/>
            </a:solidFill>
          </a:endParaRPr>
        </a:p>
      </dsp:txBody>
      <dsp:txXfrm>
        <a:off x="31185" y="1501644"/>
        <a:ext cx="7957023" cy="576450"/>
      </dsp:txXfrm>
    </dsp:sp>
    <dsp:sp modelId="{C0311A7D-891A-4076-A7C0-4222DDBA3B42}">
      <dsp:nvSpPr>
        <dsp:cNvPr id="0" name=""/>
        <dsp:cNvSpPr/>
      </dsp:nvSpPr>
      <dsp:spPr>
        <a:xfrm>
          <a:off x="0" y="2184159"/>
          <a:ext cx="8019393" cy="638820"/>
        </a:xfrm>
        <a:prstGeom prst="roundRect">
          <a:avLst/>
        </a:prstGeom>
        <a:solidFill>
          <a:srgbClr val="E7EEF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kern="1200" dirty="0">
              <a:solidFill>
                <a:srgbClr val="002060"/>
              </a:solidFill>
            </a:rPr>
            <a:t>Conception du Système</a:t>
          </a:r>
        </a:p>
      </dsp:txBody>
      <dsp:txXfrm>
        <a:off x="31185" y="2215344"/>
        <a:ext cx="7957023" cy="576450"/>
      </dsp:txXfrm>
    </dsp:sp>
    <dsp:sp modelId="{39B9E616-B7A4-40BD-925A-CBEF6E378DF6}">
      <dsp:nvSpPr>
        <dsp:cNvPr id="0" name=""/>
        <dsp:cNvSpPr/>
      </dsp:nvSpPr>
      <dsp:spPr>
        <a:xfrm>
          <a:off x="0" y="2915993"/>
          <a:ext cx="8019393" cy="638820"/>
        </a:xfrm>
        <a:prstGeom prst="roundRect">
          <a:avLst/>
        </a:prstGeom>
        <a:solidFill>
          <a:srgbClr val="E7EEF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kern="1200" dirty="0">
              <a:solidFill>
                <a:srgbClr val="002060"/>
              </a:solidFill>
            </a:rPr>
            <a:t>Réalisation et Démonstration</a:t>
          </a:r>
        </a:p>
      </dsp:txBody>
      <dsp:txXfrm>
        <a:off x="31185" y="2947178"/>
        <a:ext cx="7957023" cy="576450"/>
      </dsp:txXfrm>
    </dsp:sp>
    <dsp:sp modelId="{73E77490-D226-43D3-BE13-86FA954A461F}">
      <dsp:nvSpPr>
        <dsp:cNvPr id="0" name=""/>
        <dsp:cNvSpPr/>
      </dsp:nvSpPr>
      <dsp:spPr>
        <a:xfrm>
          <a:off x="0" y="3611559"/>
          <a:ext cx="8019393" cy="638820"/>
        </a:xfrm>
        <a:prstGeom prst="roundRect">
          <a:avLst/>
        </a:prstGeom>
        <a:solidFill>
          <a:srgbClr val="E7EEF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kern="1200" dirty="0">
              <a:solidFill>
                <a:srgbClr val="002060"/>
              </a:solidFill>
            </a:rPr>
            <a:t>Résultats et Apports</a:t>
          </a:r>
          <a:endParaRPr lang="fr-FR" sz="2600" b="1" kern="1200" dirty="0">
            <a:solidFill>
              <a:schemeClr val="tx2"/>
            </a:solidFill>
          </a:endParaRPr>
        </a:p>
      </dsp:txBody>
      <dsp:txXfrm>
        <a:off x="31185" y="3642744"/>
        <a:ext cx="7957023" cy="576450"/>
      </dsp:txXfrm>
    </dsp:sp>
    <dsp:sp modelId="{2E1269D3-97E2-46A2-BAC1-8624CA71138A}">
      <dsp:nvSpPr>
        <dsp:cNvPr id="0" name=""/>
        <dsp:cNvSpPr/>
      </dsp:nvSpPr>
      <dsp:spPr>
        <a:xfrm>
          <a:off x="0" y="4325259"/>
          <a:ext cx="8019393" cy="638820"/>
        </a:xfrm>
        <a:prstGeom prst="roundRect">
          <a:avLst/>
        </a:prstGeom>
        <a:solidFill>
          <a:srgbClr val="E7EEF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kern="1200" dirty="0">
              <a:solidFill>
                <a:srgbClr val="002060"/>
              </a:solidFill>
            </a:rPr>
            <a:t>Conclusion et Perspectives</a:t>
          </a:r>
        </a:p>
      </dsp:txBody>
      <dsp:txXfrm>
        <a:off x="31185" y="4356444"/>
        <a:ext cx="7957023" cy="576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9E0CDC-5792-BD18-D18B-FAD0AE39F6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AEE60-8E07-B9FB-11AC-EF91F5C0691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141DA6-6C26-4411-ABDB-25384BCADE07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F4145-63F2-7A34-784A-59D9E7B108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84CA15-1E82-D1E0-8FD3-F05EF77FDA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2BD7D-0E18-4CEB-9EFA-1EC50D19694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59227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0:08:15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0:08:18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0:08:21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0:08:23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CCE07A-81EC-4E3E-9B79-0E61580F901F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6361C4-4163-4FD8-A991-1DA6BD78A98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52160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92F2E-50F4-360C-63C1-68A42EE4F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368CC-EFE7-A9C6-A3AA-5EBEFF677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9A8B3-7BB9-F6B1-3E94-6CD777AD1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3423B-C491-3CC8-14E6-D63819314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505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7F70C-FB1B-98C8-98E8-217AFFF9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AECC5-3390-24B1-402E-A7018EE97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67EC58-D6A6-99E2-7109-4696FAA4E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504C8-F9F3-3F14-A8C7-01A6CEF92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6582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4DA2F-24FD-0159-1B5F-CCDB27723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88A842-F463-7603-9B79-7FDFBE2D0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E6DF00-0429-09AE-07A5-01FE69496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29BE4-9EAF-708F-D28B-D0662E9F0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5325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B1109-9149-72C4-9C16-CC543B14D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03F3B-48EF-5ACE-4257-3B937FD8F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51492-D8E6-1069-7CF1-BA516B09F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47331-A656-14B0-DDBD-59ABFF888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4685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C0AFC-A227-C27A-18C5-6277B562E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10ABC-4BC0-AD29-BB97-3CC98322D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157C7C-E9E1-74B2-7C0F-21EA1E80F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B99A2-F59C-C61A-8DDF-939DF02E3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7059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1F0D7-11E0-5CAA-2058-366C948F2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02E930-3E9C-FC6A-A76B-D87945C07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9537C-9BE9-5358-102F-D3D09A8AE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04BC0-A9E7-9313-A2F5-AA0AD0420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9673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F04AF-6D23-C933-9733-E5D5A94F3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FE0A5-9A16-4099-392C-251EA0AE2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4124F-0D25-FA49-6AE5-B3EE31004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21C8A-CDB2-D46B-4653-F526D10B8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2292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EE7B-D12D-DB34-91D4-524A252E8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9DDBC-9B33-E8B0-E911-6449ED8FE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748E5-BAAD-1939-92B2-B2107931A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C6451-99F1-6239-AFEA-BA16A0E23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124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6E8B3-B757-3578-A2F6-84D4AB01E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ED443-BB1E-B4D1-2410-D841EBD94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046220-68AF-3E2F-C001-62442441F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D1E70-7FCA-7E1A-EAD1-F77770D01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7735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42905-205F-1EDD-FEB2-45D6FCFC8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91BA18-ECF1-81D0-8D55-92C2B0B9D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2BF926-88EF-EE35-AFA6-5DF0A6FB1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E124F-A1B1-7896-9B65-BF21A28B8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897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9F0CE-3091-BE11-3B92-1D23ABF80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7DB4D-8E31-7A74-1173-2D7B03BAF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D72A35-D697-8C72-F686-029D0E125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6F819-6C8B-47C9-98EF-FAF5D0806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18211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010D2-EB3B-6D70-0B99-CB96F46EF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DC21D-4B6F-1E87-711A-CB9977605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FA9FFB-FA7A-41F3-D4B6-3A6045AB0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DE048-2B40-89A9-5C04-AD95870B8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14757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7F4A9-8CA7-7F00-1991-51687D35C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7BB2D0-4328-1DFC-D283-236591091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116A52-8AFC-604D-B819-91FAA14F2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3E2AA-2488-2C52-EC36-5732AEB45F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11130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2A998-7CB7-A7AB-9132-AAB84A5CE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C7A40-9F79-9909-4044-44A76805D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32400-3F5A-D9A8-5CF3-4DCAB16A1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89594-A5D6-8EB5-6699-99E4CE60F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6051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A4A2D-D7F4-3A03-2C55-9514D639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A2062-8D66-61E1-1C9E-C1F03014F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ED88C-C114-365A-F623-A45E8BC5B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0D926-3559-5A83-614A-855426675E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75445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7FE20-093A-61E8-D71B-6E9DA2B15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E9326-1211-E70C-2C3D-299EBA25D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964A1-DB3A-04DB-D0E6-1644CFB8D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1C374-AD4D-7739-394B-4202052DA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15814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8BFD5-04AA-F6B5-2B19-6301F6329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997814-3698-ABF4-A6C6-99A20CE05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A8218-0FDC-7855-C5C3-D316198BC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0B8B6-EFB7-B568-9682-5288DA3F4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33284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74BAD-1761-5D45-B56E-73F2A575F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8226B-2F69-88A2-DCF0-D1CCF8756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33864-CBD9-6051-6578-C70D3E5DD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A8CB0-7AFE-3236-68A3-65518EB99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29773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09933-FA5B-07CF-018B-E56152EE6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EC770A-2523-2DD7-769A-7AEE890B2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DABFD-E493-6000-BE94-DA55F2EE5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D5142-35B2-8B21-A750-54F42D4F8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05311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890BE-670F-F0A1-0E24-D1BE0C6E3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4E3D9-9E35-61D3-0686-D108C5F1B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89042-C523-29D8-2DDE-B47C8FD23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0B865-0E34-F41A-A8E0-EA40137B4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02126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95C6D-81AD-07E1-82FC-A40C8EF3E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895E3-DC6D-367A-5B28-38A80C200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67385-CA97-1284-8B35-4CA08A22F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14418-4C7B-37F0-7014-5E6BF2B77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8926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90F50-6694-D2FB-171F-605BFB000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80D19B-B64E-CF77-3D5B-3C4D50767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F1114-E2C5-1C45-5D1B-E28FEE791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DAAE2-4AAB-78DA-E1B8-80AEE6B86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2364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3D35E-9A05-DF2E-9C26-974532B49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51200-3C48-BF96-23FA-B8F399999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5FF19-F186-482F-E0A6-759D2B17C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69C8B-7295-E2FF-05C7-D852F4A0C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77710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24DCE-1C0F-4436-007C-83D75D4E7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DADB8-C7CC-9C22-ACB2-AE43176B9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40178-5E8F-DAC2-E605-71E445526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A3E7C-85DB-7277-236E-34025390B7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24466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2C1E9-47ED-A4E3-3E79-52348BED6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BE553-EB23-C8DF-9270-76846DF12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35E21-6DCC-7F75-FE3D-FEFBD826B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C1AAA-DCD5-9D6D-63A8-A8F1B854C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08422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465D9-312D-FBBD-B84C-CA942996C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04473-AEA9-84BA-4BC7-09A4F06A6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04DD6-7C9B-DC50-A66A-DC78E6250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26266-E5CA-E452-632F-6ED81C179C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25508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AEE78-91F6-637A-7A1F-768D8419B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9940F-8660-4703-B1AE-2AA34132E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80012-B3A4-C626-4385-34A3FCF90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5ACFC-EB6B-BEBC-9D1E-13E8BC734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53029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3B967-4B4F-24D4-FD69-90699EFB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C9D4D-326A-96B2-5ECD-3C851BFB6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08AA2-C530-3C89-47A4-FB2953501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CA57A-0924-D945-ADAA-B1EFDCAD0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1474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4750B-5CBD-2D8C-6D5D-F75206C91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F96CB-3260-71AC-18DC-9A1BB030F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B0BBA-76F2-31CD-3EAD-0FC1A6AA7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B505C-C474-419D-B0E5-9F5E6D2B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2068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17862-2CA9-276A-F080-13E139AFE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05984-6E76-6747-623B-647F6AAFC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E0211C-002E-BC1E-70C3-C94613879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8869E-A158-F1F5-CCA3-28EA401A5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361C4-4163-4FD8-A991-1DA6BD78A98C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0550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04903-708F-CB8F-3980-E5F8D6574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BF299-2DCC-6FE9-5833-376E0C8AE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40EE2-77A0-0F51-A9AE-4584DD289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3BBB2-DBBB-4F82-B01B-446F8C9687C6}" type="datetime1">
              <a:rPr lang="fr-FR" smtClean="0"/>
              <a:t>05/05/2026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C4FDB-6BEA-F3B5-897D-C7BCC5081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AC624-110A-1DC4-3473-BDA13F06F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166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BF735-FD11-82A2-FA02-785FEA13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33CD1-DCD6-A605-AF02-226D9EBE7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ABAE9-5CE3-BA95-1A1A-D2873F0C2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9A49-3D71-4DB1-A01E-54CAD7AA3DAD}" type="datetime1">
              <a:rPr lang="fr-FR" smtClean="0"/>
              <a:t>05/05/2026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DFB1F-E92A-E143-35B5-179B1673D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7B35E-16F7-60FB-3BFF-C03A1D3D2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553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30BE5-247C-B47D-DDF6-D000A3A53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2FE24-F0BF-868E-EDD8-0060DA4F9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71AB9-27B6-A792-2B97-AB676F1C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1728-EF30-4722-91FA-1F5000E4D58B}" type="datetime1">
              <a:rPr lang="fr-FR" smtClean="0"/>
              <a:t>05/05/2026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9C1CC-6886-F8D3-6381-78FAA7345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932C9-7858-5990-976E-FAF48804E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8031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C87CF-FD06-F910-60C8-919DC4A93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CBE1B-9CBC-C188-9CFB-E5D0B7F8F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6489A-F6DA-C818-C8D4-474478341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A14D0-93A2-7687-9F4B-BB32B250C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D1467-E039-4A40-81A4-7E1E12F83C31}" type="datetime1">
              <a:rPr lang="fr-FR" smtClean="0"/>
              <a:t>05/05/2026</a:t>
            </a:fld>
            <a:endParaRPr lang="fr-FR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3C540-0F07-52E4-9095-871151DBA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1ADAB-E232-2760-01EC-90DB5AFDF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197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2CF2-0B12-A438-E6F8-FD0E2BBC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6368D-A651-F7DB-A12A-286E51A7C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DD688-7086-3032-FE86-CB49C1B2A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F7AB8-F556-4A54-E7CE-1D6CD82783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264138-FFFF-6FB7-A224-AEA19D1D0F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21D00-F82C-2F47-E7B3-5C4AE6E2B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48E6-D12C-4767-8BC0-6351D13995BE}" type="datetime1">
              <a:rPr lang="fr-FR" smtClean="0"/>
              <a:t>05/05/2026</a:t>
            </a:fld>
            <a:endParaRPr lang="fr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73EEDB-A1CD-BCC4-164E-64F35253C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67188-CE85-76E5-FA76-11D085D9B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2618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077E-75C5-0208-0FB5-C85982CD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4F3FF2-7EA7-6151-8739-5E5CA919A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36F33-323C-403C-B952-461825278100}" type="datetime1">
              <a:rPr lang="fr-FR" smtClean="0"/>
              <a:t>05/05/2026</a:t>
            </a:fld>
            <a:endParaRPr lang="fr-F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BE176-E376-FFE5-623B-5643126BD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24E2A0-D184-CD51-DF12-3FEACB3C2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2175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12841-9C55-AADE-EAA4-646CAAF6A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3883C-8AE5-4734-ADD3-396F5BA3ECC6}" type="datetime1">
              <a:rPr lang="fr-FR" smtClean="0"/>
              <a:t>05/05/2026</a:t>
            </a:fld>
            <a:endParaRPr lang="fr-F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82AE27-65FA-6BD8-A431-A6CEAD5EC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64267-29AE-BA10-F9EE-911644678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71241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DF540-1323-A17D-E1D6-5F2A0901A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579F5-AE2B-2520-C529-CCC9563E0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A86BBD-2374-E561-7195-72765675B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2618C-F9AA-558C-E936-A046C7A6D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6865A-4E67-40D0-B075-5E48F266CE0F}" type="datetime1">
              <a:rPr lang="fr-FR" smtClean="0"/>
              <a:t>05/05/2026</a:t>
            </a:fld>
            <a:endParaRPr lang="fr-FR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56812-DBC3-1C3C-08F0-FEB63020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BD200-3F50-FB1E-54D5-6A680DF89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6371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FF059-9F0A-007B-076A-78210841E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1804D-CD6B-251A-B8A6-E884DE6934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B6AE30-0B3F-9871-51FA-826243D8C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3B9E3-EBA5-C4DC-8F28-48EE98429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E193-974E-43EE-87A8-98E60317E470}" type="datetime1">
              <a:rPr lang="fr-FR" smtClean="0"/>
              <a:t>05/05/2026</a:t>
            </a:fld>
            <a:endParaRPr lang="fr-FR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E986C-911B-C2D8-55AB-F27519B3B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32191-E7BA-8BB6-AE81-4BD927EB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3930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FC460-BF11-7DCA-5D8D-B08448F8F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3C3D0-C239-C013-E9BE-2781845B8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0FD9A-BEC6-23DA-6DA7-46A4FF658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A3E7D-2E44-4E33-8A32-8C1A8D5AF282}" type="datetime1">
              <a:rPr lang="fr-FR" smtClean="0"/>
              <a:t>05/05/2026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19E72-A48E-6AC7-B287-B72F300A5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21EB7-D801-6DF0-3D7C-94B7061F6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9228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7C1435-90D6-3244-CEA4-9F26449A23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6AFEA9-A048-1073-9F88-5AE5B3D59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FD8A6-FEDF-8B83-F786-43E5CA51B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3E55-0E01-4974-BE31-9C5B74927565}" type="datetime1">
              <a:rPr lang="fr-FR" smtClean="0"/>
              <a:t>05/05/2026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A1E75-053E-6D8A-02E2-5B296624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4A5C8-3904-4942-82DF-C6E9FEB4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2972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0F44F9-1EC0-B66E-4990-ED94E360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E04E8-3138-EC46-3B09-8FC99216C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03EFF-92FF-29C2-E169-2E4C45B89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CE6486-359A-4410-AA9A-BD213E4EB5FB}" type="datetime1">
              <a:rPr lang="fr-FR" smtClean="0"/>
              <a:t>05/05/2026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1A9F6-7F5C-E975-2EBE-BE4DB006C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E90E5-BF04-4B39-F401-00996972B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C4AF0-D434-4FE0-A347-084A7205A2E0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3460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1.xml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407A96-9EE9-00C9-EA81-BFDE33005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88B9EB8-391C-BCAA-471E-BC6FAF9A012E}"/>
              </a:ext>
            </a:extLst>
          </p:cNvPr>
          <p:cNvSpPr/>
          <p:nvPr/>
        </p:nvSpPr>
        <p:spPr>
          <a:xfrm>
            <a:off x="115133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9E263-DA64-9E7A-E820-07D1F260E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009" y="2120044"/>
            <a:ext cx="10335491" cy="1711725"/>
          </a:xfrm>
        </p:spPr>
        <p:txBody>
          <a:bodyPr>
            <a:noAutofit/>
          </a:bodyPr>
          <a:lstStyle/>
          <a:p>
            <a:r>
              <a:rPr lang="fr-FR" sz="36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Développement d’une application web intelligente d’analyse ciblée et de comparaison</a:t>
            </a:r>
            <a:br>
              <a:rPr lang="fr-FR" sz="36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r>
              <a:rPr lang="fr-FR" sz="36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 de rapports ESG.</a:t>
            </a:r>
            <a:endParaRPr lang="fr-FR" sz="3600" dirty="0">
              <a:solidFill>
                <a:schemeClr val="accent1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6E3B6-CB5E-584E-0D77-5D0D7ACD6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4087" y="4823418"/>
            <a:ext cx="2003841" cy="719703"/>
          </a:xfrm>
        </p:spPr>
        <p:txBody>
          <a:bodyPr>
            <a:normAutofit/>
          </a:bodyPr>
          <a:lstStyle/>
          <a:p>
            <a:pPr algn="l"/>
            <a:r>
              <a:rPr lang="fr-FR" sz="1800" b="1" dirty="0"/>
              <a:t>Réalisé par :</a:t>
            </a:r>
          </a:p>
          <a:p>
            <a:pPr algn="l"/>
            <a:r>
              <a:rPr lang="fr-FR" sz="1800" dirty="0"/>
              <a:t>BOUCHRA RGUIBI</a:t>
            </a:r>
          </a:p>
        </p:txBody>
      </p:sp>
      <p:pic>
        <p:nvPicPr>
          <p:cNvPr id="4" name="Picture 3" descr="ENSAM Casablanca CASA Concours Master 2022-2023 - 9rayti.Com">
            <a:extLst>
              <a:ext uri="{FF2B5EF4-FFF2-40B4-BE49-F238E27FC236}">
                <a16:creationId xmlns:a16="http://schemas.microsoft.com/office/drawing/2014/main" id="{ACDD283F-59E9-FB47-71E3-C4CA349B40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492" b="31333"/>
          <a:stretch>
            <a:fillRect/>
          </a:stretch>
        </p:blipFill>
        <p:spPr bwMode="auto">
          <a:xfrm>
            <a:off x="364610" y="340434"/>
            <a:ext cx="926245" cy="62011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8810FF8-2BD6-432F-D5FD-FA7905AD215E}"/>
              </a:ext>
            </a:extLst>
          </p:cNvPr>
          <p:cNvSpPr txBox="1"/>
          <p:nvPr/>
        </p:nvSpPr>
        <p:spPr>
          <a:xfrm>
            <a:off x="2952728" y="1257920"/>
            <a:ext cx="5980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>
                <a:solidFill>
                  <a:schemeClr val="bg2">
                    <a:lumMod val="50000"/>
                  </a:schemeClr>
                </a:solidFill>
              </a:rPr>
              <a:t>Filière : Intelligence Artificielle et Génie Informatique </a:t>
            </a:r>
          </a:p>
        </p:txBody>
      </p:sp>
      <p:pic>
        <p:nvPicPr>
          <p:cNvPr id="21" name="Picture 20" descr="ENSAM Casablanca CASA Concours Master 2022-2023 - 9rayti.Com">
            <a:extLst>
              <a:ext uri="{FF2B5EF4-FFF2-40B4-BE49-F238E27FC236}">
                <a16:creationId xmlns:a16="http://schemas.microsoft.com/office/drawing/2014/main" id="{AEC0DE69-ADA6-E879-C981-666DEDAADA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34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6424"/>
          <a:stretch>
            <a:fillRect/>
          </a:stretch>
        </p:blipFill>
        <p:spPr bwMode="auto">
          <a:xfrm>
            <a:off x="2952728" y="308595"/>
            <a:ext cx="5605007" cy="59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1" descr="ENSAM Casablanca CASA Concours Master 2022-2023 - 9rayti.Com">
            <a:extLst>
              <a:ext uri="{FF2B5EF4-FFF2-40B4-BE49-F238E27FC236}">
                <a16:creationId xmlns:a16="http://schemas.microsoft.com/office/drawing/2014/main" id="{D563D0DD-D735-3A45-7991-A81E02D70F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39" t="-1" b="37308"/>
          <a:stretch>
            <a:fillRect/>
          </a:stretch>
        </p:blipFill>
        <p:spPr bwMode="auto">
          <a:xfrm>
            <a:off x="10136196" y="340434"/>
            <a:ext cx="1691194" cy="56962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76C29-69D7-AEF5-B243-841E6A693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7775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A1F68-E3DD-7BBE-4176-ED1258BEC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778B2E6-E001-EA3B-3E25-8B77B033B0F5}"/>
              </a:ext>
            </a:extLst>
          </p:cNvPr>
          <p:cNvSpPr/>
          <p:nvPr/>
        </p:nvSpPr>
        <p:spPr>
          <a:xfrm>
            <a:off x="131381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EB21453-B02B-E6D0-4CF2-499ECBABB670}"/>
              </a:ext>
            </a:extLst>
          </p:cNvPr>
          <p:cNvSpPr txBox="1"/>
          <p:nvPr/>
        </p:nvSpPr>
        <p:spPr>
          <a:xfrm>
            <a:off x="5150068" y="299766"/>
            <a:ext cx="18918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Plan</a:t>
            </a:r>
            <a:endParaRPr lang="fr-FR" sz="4400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graphicFrame>
        <p:nvGraphicFramePr>
          <p:cNvPr id="90" name="Diagram 89">
            <a:extLst>
              <a:ext uri="{FF2B5EF4-FFF2-40B4-BE49-F238E27FC236}">
                <a16:creationId xmlns:a16="http://schemas.microsoft.com/office/drawing/2014/main" id="{9A494FD5-224F-0D7B-ED98-3B4E537240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362041"/>
              </p:ext>
            </p:extLst>
          </p:nvPr>
        </p:nvGraphicFramePr>
        <p:xfrm>
          <a:off x="2086303" y="1261242"/>
          <a:ext cx="8019393" cy="5007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4F429F3-2EB9-6D58-56CF-AA78F05B6843}"/>
              </a:ext>
            </a:extLst>
          </p:cNvPr>
          <p:cNvSpPr txBox="1"/>
          <p:nvPr/>
        </p:nvSpPr>
        <p:spPr>
          <a:xfrm>
            <a:off x="3179379" y="629113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6DF6F8-1B18-D698-3C41-77A8E185C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125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graphicEl>
                                              <a:dgm id="{E538DA96-73B9-4955-956D-70A06603D9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0">
                                            <p:graphicEl>
                                              <a:dgm id="{E538DA96-73B9-4955-956D-70A06603D9F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graphicEl>
                                              <a:dgm id="{CDC1E5D8-910B-4D38-B7E0-79BD0BF4D6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0">
                                            <p:graphicEl>
                                              <a:dgm id="{CDC1E5D8-910B-4D38-B7E0-79BD0BF4D6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graphicEl>
                                              <a:dgm id="{1C25E120-A4D0-40CA-976A-4DC7D7A1CD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0">
                                            <p:graphicEl>
                                              <a:dgm id="{1C25E120-A4D0-40CA-976A-4DC7D7A1CD3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graphicEl>
                                              <a:dgm id="{C0311A7D-891A-4076-A7C0-4222DDBA3B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0">
                                            <p:graphicEl>
                                              <a:dgm id="{C0311A7D-891A-4076-A7C0-4222DDBA3B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graphicEl>
                                              <a:dgm id="{39B9E616-B7A4-40BD-925A-CBEF6E378D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0">
                                            <p:graphicEl>
                                              <a:dgm id="{39B9E616-B7A4-40BD-925A-CBEF6E378D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graphicEl>
                                              <a:dgm id="{73E77490-D226-43D3-BE13-86FA954A46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0">
                                            <p:graphicEl>
                                              <a:dgm id="{73E77490-D226-43D3-BE13-86FA954A46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graphicEl>
                                              <a:dgm id="{2E1269D3-97E2-46A2-BAC1-8624CA7113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0">
                                            <p:graphicEl>
                                              <a:dgm id="{2E1269D3-97E2-46A2-BAC1-8624CA7113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0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EEDA42-AB91-58F0-23F1-91E6C5D2B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09AC8AD-E96B-0F7D-0976-031DCAD9D203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4E35B-C0BE-9D58-E466-9B1EB2775F7B}"/>
              </a:ext>
            </a:extLst>
          </p:cNvPr>
          <p:cNvSpPr txBox="1"/>
          <p:nvPr/>
        </p:nvSpPr>
        <p:spPr>
          <a:xfrm>
            <a:off x="1587062" y="299766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Reporting</a:t>
            </a:r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ESG : De la Transparence à l’Obligation</a:t>
            </a:r>
            <a:endParaRPr lang="fr-FR" sz="3200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C5FEFC-03A3-09E4-125C-B9F4DB4847B9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C45977E-A70D-123B-2FDD-6B4DF0853AFA}"/>
              </a:ext>
            </a:extLst>
          </p:cNvPr>
          <p:cNvSpPr/>
          <p:nvPr/>
        </p:nvSpPr>
        <p:spPr>
          <a:xfrm>
            <a:off x="918511" y="3858738"/>
            <a:ext cx="2260868" cy="2246104"/>
          </a:xfrm>
          <a:prstGeom prst="ellipse">
            <a:avLst/>
          </a:prstGeom>
          <a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7000" r="-37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E832ACB-F8B3-5C8E-E540-2926EB17F730}"/>
              </a:ext>
            </a:extLst>
          </p:cNvPr>
          <p:cNvSpPr/>
          <p:nvPr/>
        </p:nvSpPr>
        <p:spPr>
          <a:xfrm>
            <a:off x="9169480" y="3903608"/>
            <a:ext cx="2260868" cy="2246104"/>
          </a:xfrm>
          <a:prstGeom prst="ellipse">
            <a:avLst/>
          </a:prstGeom>
          <a:blipFill rotWithShape="1">
            <a:blip r:embed="rId4"/>
            <a:srcRect/>
            <a:stretch>
              <a:fillRect l="-50000" r="-50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C97F74F6-BD38-8E81-E4B8-8FA763DC1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398" y="2007554"/>
            <a:ext cx="923947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2051" name="Picture 3" descr="ESG factors – HOINKA">
            <a:extLst>
              <a:ext uri="{FF2B5EF4-FFF2-40B4-BE49-F238E27FC236}">
                <a16:creationId xmlns:a16="http://schemas.microsoft.com/office/drawing/2014/main" id="{89E083BA-F956-E048-DFB2-E2D1DE41D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700" y="-1"/>
            <a:ext cx="5134363" cy="5134363"/>
          </a:xfrm>
          <a:prstGeom prst="rect">
            <a:avLst/>
          </a:prstGeom>
          <a:noFill/>
          <a:effectLst>
            <a:glow>
              <a:schemeClr val="tx1">
                <a:lumMod val="95000"/>
                <a:lumOff val="5000"/>
                <a:alpha val="40000"/>
              </a:schemeClr>
            </a:glow>
            <a:outerShdw blurRad="50800" dist="38100" dir="10800000" sx="1000" sy="1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3B3B8C8-544E-A240-2B46-D025B6F82192}"/>
              </a:ext>
            </a:extLst>
          </p:cNvPr>
          <p:cNvCxnSpPr>
            <a:cxnSpLocks/>
            <a:stCxn id="18" idx="7"/>
          </p:cNvCxnSpPr>
          <p:nvPr/>
        </p:nvCxnSpPr>
        <p:spPr>
          <a:xfrm flipV="1">
            <a:off x="2848283" y="3258572"/>
            <a:ext cx="1975965" cy="929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EB247B1-4778-63FF-EB15-93314A8EB8B5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7167182" y="3258572"/>
            <a:ext cx="2333394" cy="973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B9EACD3-FA2A-C351-866A-31B90BED6543}"/>
              </a:ext>
            </a:extLst>
          </p:cNvPr>
          <p:cNvSpPr txBox="1"/>
          <p:nvPr/>
        </p:nvSpPr>
        <p:spPr>
          <a:xfrm>
            <a:off x="585589" y="2550678"/>
            <a:ext cx="2672901" cy="1200328"/>
          </a:xfrm>
          <a:prstGeom prst="rect">
            <a:avLst/>
          </a:prstGeom>
          <a:solidFill>
            <a:srgbClr val="E7EEF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Directive européenne</a:t>
            </a:r>
          </a:p>
          <a:p>
            <a:pPr algn="ctr"/>
            <a:endParaRPr lang="fr-FR" b="1" dirty="0">
              <a:solidFill>
                <a:srgbClr val="002060"/>
              </a:solidFill>
            </a:endParaRPr>
          </a:p>
          <a:p>
            <a:pPr algn="ctr"/>
            <a:r>
              <a:rPr lang="fr-FR" b="1" dirty="0">
                <a:solidFill>
                  <a:srgbClr val="002060"/>
                </a:solidFill>
              </a:rPr>
              <a:t> Rapports obligatoires auditables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C90FB10-81A5-0447-35D0-F6E2E5F48F51}"/>
              </a:ext>
            </a:extLst>
          </p:cNvPr>
          <p:cNvCxnSpPr/>
          <p:nvPr/>
        </p:nvCxnSpPr>
        <p:spPr>
          <a:xfrm>
            <a:off x="1968500" y="2862406"/>
            <a:ext cx="0" cy="247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9C6D425-F2FC-45EF-43EC-9ACD2B762637}"/>
              </a:ext>
            </a:extLst>
          </p:cNvPr>
          <p:cNvSpPr txBox="1"/>
          <p:nvPr/>
        </p:nvSpPr>
        <p:spPr>
          <a:xfrm>
            <a:off x="8759273" y="2550676"/>
            <a:ext cx="2856111" cy="1200329"/>
          </a:xfrm>
          <a:prstGeom prst="rect">
            <a:avLst/>
          </a:prstGeom>
          <a:solidFill>
            <a:srgbClr val="E7EEF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Standards européens </a:t>
            </a:r>
          </a:p>
          <a:p>
            <a:pPr algn="ctr"/>
            <a:endParaRPr lang="fr-FR" b="1" dirty="0">
              <a:solidFill>
                <a:srgbClr val="002060"/>
              </a:solidFill>
            </a:endParaRPr>
          </a:p>
          <a:p>
            <a:pPr algn="ctr"/>
            <a:r>
              <a:rPr lang="fr-FR" b="1" dirty="0">
                <a:solidFill>
                  <a:srgbClr val="002060"/>
                </a:solidFill>
              </a:rPr>
              <a:t> 5 000+ indicateurs détaillés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79A63EF-754E-673C-4F27-25474E811AC0}"/>
              </a:ext>
            </a:extLst>
          </p:cNvPr>
          <p:cNvCxnSpPr/>
          <p:nvPr/>
        </p:nvCxnSpPr>
        <p:spPr>
          <a:xfrm>
            <a:off x="10146072" y="2903443"/>
            <a:ext cx="0" cy="247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199E6A8D-E644-C057-E2AA-A473757EAD42}"/>
              </a:ext>
            </a:extLst>
          </p:cNvPr>
          <p:cNvSpPr txBox="1"/>
          <p:nvPr/>
        </p:nvSpPr>
        <p:spPr>
          <a:xfrm>
            <a:off x="4113736" y="4017108"/>
            <a:ext cx="3886654" cy="923330"/>
          </a:xfrm>
          <a:prstGeom prst="rect">
            <a:avLst/>
          </a:prstGeom>
          <a:solidFill>
            <a:srgbClr val="E7EEF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2060"/>
                </a:solidFill>
              </a:rPr>
              <a:t>E-S-G </a:t>
            </a:r>
          </a:p>
          <a:p>
            <a:pPr algn="ctr"/>
            <a:endParaRPr lang="fr-FR" b="1" dirty="0">
              <a:solidFill>
                <a:srgbClr val="002060"/>
              </a:solidFill>
            </a:endParaRPr>
          </a:p>
          <a:p>
            <a:pPr algn="ctr"/>
            <a:r>
              <a:rPr lang="pt-BR" b="1" dirty="0">
                <a:solidFill>
                  <a:srgbClr val="002060"/>
                </a:solidFill>
              </a:rPr>
              <a:t>Focus E1 à E5 (environnement)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EE6C5E9-96AA-799A-B407-255BC2E4EA14}"/>
              </a:ext>
            </a:extLst>
          </p:cNvPr>
          <p:cNvCxnSpPr/>
          <p:nvPr/>
        </p:nvCxnSpPr>
        <p:spPr>
          <a:xfrm>
            <a:off x="6044797" y="4328836"/>
            <a:ext cx="0" cy="247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8AE37F-D9CB-CBC8-F8DA-9C212BDCB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9857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22A23A-07DE-F1F6-B564-C8A2307F4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D2D9AF2-FA73-F47C-68EA-B74B365A1E38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CCD46A8-8D8D-D02B-68DD-CEDA933C0AA0}"/>
              </a:ext>
            </a:extLst>
          </p:cNvPr>
          <p:cNvSpPr/>
          <p:nvPr/>
        </p:nvSpPr>
        <p:spPr>
          <a:xfrm>
            <a:off x="519922" y="1020444"/>
            <a:ext cx="5253790" cy="2303608"/>
          </a:xfrm>
          <a:prstGeom prst="roundRect">
            <a:avLst/>
          </a:prstGeom>
          <a:solidFill>
            <a:srgbClr val="FEE2E2"/>
          </a:solidFill>
          <a:ln w="28575">
            <a:solidFill>
              <a:srgbClr val="FF9F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AEDD230-2943-7107-0A55-909BC1E9D1DC}"/>
              </a:ext>
            </a:extLst>
          </p:cNvPr>
          <p:cNvSpPr/>
          <p:nvPr/>
        </p:nvSpPr>
        <p:spPr>
          <a:xfrm>
            <a:off x="6416842" y="3557929"/>
            <a:ext cx="5260438" cy="2303608"/>
          </a:xfrm>
          <a:prstGeom prst="roundRect">
            <a:avLst/>
          </a:prstGeom>
          <a:solidFill>
            <a:srgbClr val="E4DBFD"/>
          </a:solidFill>
          <a:ln w="28575">
            <a:solidFill>
              <a:srgbClr val="865E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D10266-D048-0DE5-A65F-94D93F730007}"/>
              </a:ext>
            </a:extLst>
          </p:cNvPr>
          <p:cNvSpPr txBox="1"/>
          <p:nvPr/>
        </p:nvSpPr>
        <p:spPr>
          <a:xfrm>
            <a:off x="1587062" y="299766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Problématique → Solution : ESG Report Analyser</a:t>
            </a:r>
            <a:endParaRPr lang="fr-FR" sz="3200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7DD11D9-6323-DB56-7979-5A0715EB435E}"/>
              </a:ext>
            </a:extLst>
          </p:cNvPr>
          <p:cNvSpPr/>
          <p:nvPr/>
        </p:nvSpPr>
        <p:spPr>
          <a:xfrm>
            <a:off x="514720" y="3563975"/>
            <a:ext cx="5260438" cy="23036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3E2AC05-A46F-56C0-E47B-8B1FCCFBB2D5}"/>
              </a:ext>
            </a:extLst>
          </p:cNvPr>
          <p:cNvSpPr/>
          <p:nvPr/>
        </p:nvSpPr>
        <p:spPr>
          <a:xfrm>
            <a:off x="6415396" y="1020444"/>
            <a:ext cx="5253790" cy="2303608"/>
          </a:xfrm>
          <a:prstGeom prst="roundRect">
            <a:avLst/>
          </a:prstGeom>
          <a:solidFill>
            <a:srgbClr val="FEF3C7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8761EFA-FCFF-C272-BD0B-F987AF070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83" y="4340785"/>
            <a:ext cx="1239596" cy="123959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52E5D00-F74A-5DE5-D640-8E6F22C92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371" y="1645574"/>
            <a:ext cx="1152335" cy="115233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0E7A9F6-BDC2-A31D-692A-7E682D7FBB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545" y="4289387"/>
            <a:ext cx="1040415" cy="109778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999CE07-59C8-64DC-2067-3D78C1B18E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44" y="1706540"/>
            <a:ext cx="1152335" cy="1152335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E52FCEFA-8D4C-9FFC-F2F8-B3ED7AE2619C}"/>
              </a:ext>
            </a:extLst>
          </p:cNvPr>
          <p:cNvSpPr txBox="1"/>
          <p:nvPr/>
        </p:nvSpPr>
        <p:spPr>
          <a:xfrm>
            <a:off x="1396706" y="1162650"/>
            <a:ext cx="3562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FF7171"/>
                </a:solidFill>
              </a:rPr>
              <a:t>COMPLEXITÉ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EFFEAB8-69BB-80B7-81F8-0A0F5003B558}"/>
              </a:ext>
            </a:extLst>
          </p:cNvPr>
          <p:cNvSpPr txBox="1"/>
          <p:nvPr/>
        </p:nvSpPr>
        <p:spPr>
          <a:xfrm>
            <a:off x="7261064" y="1162650"/>
            <a:ext cx="3562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TEMPS PROHIBITIF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9087AA-BA06-2031-1B0F-B31245EC6445}"/>
              </a:ext>
            </a:extLst>
          </p:cNvPr>
          <p:cNvSpPr txBox="1"/>
          <p:nvPr/>
        </p:nvSpPr>
        <p:spPr>
          <a:xfrm>
            <a:off x="1429205" y="3647926"/>
            <a:ext cx="3562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0070C0"/>
                </a:solidFill>
              </a:rPr>
              <a:t>CONFORMITÉ ESRS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726244-7120-CFFE-2D5C-B53595DB0C87}"/>
              </a:ext>
            </a:extLst>
          </p:cNvPr>
          <p:cNvSpPr txBox="1"/>
          <p:nvPr/>
        </p:nvSpPr>
        <p:spPr>
          <a:xfrm>
            <a:off x="6756430" y="3706035"/>
            <a:ext cx="4571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865EF8"/>
                </a:solidFill>
              </a:rPr>
              <a:t>COMPARAISON DIFFICILE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BBD5D55-DB0B-EC69-820C-35951DF1B897}"/>
              </a:ext>
            </a:extLst>
          </p:cNvPr>
          <p:cNvSpPr txBox="1"/>
          <p:nvPr/>
        </p:nvSpPr>
        <p:spPr>
          <a:xfrm>
            <a:off x="1976301" y="1615684"/>
            <a:ext cx="35624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Rapports 300+ pages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Formats variés  (PDF/HTML)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Structures hétérogènes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BD4630C-F864-289A-D034-2E9AB2A72D0B}"/>
              </a:ext>
            </a:extLst>
          </p:cNvPr>
          <p:cNvSpPr txBox="1"/>
          <p:nvPr/>
        </p:nvSpPr>
        <p:spPr>
          <a:xfrm>
            <a:off x="1776887" y="4171146"/>
            <a:ext cx="356245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Nombres de normes ESRS énorme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Expertise tech pointue requise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Subjectivité d’évaluation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B4B7A84-BBDF-EA31-B91D-29E2BDE8586F}"/>
              </a:ext>
            </a:extLst>
          </p:cNvPr>
          <p:cNvSpPr txBox="1"/>
          <p:nvPr/>
        </p:nvSpPr>
        <p:spPr>
          <a:xfrm>
            <a:off x="7345838" y="1645574"/>
            <a:ext cx="35624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15 – 20h par rapport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90% = Lecture manuelle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Expertise rare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Coût élevé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A1B06DA-9681-2945-2CDA-003903EEBBC8}"/>
              </a:ext>
            </a:extLst>
          </p:cNvPr>
          <p:cNvSpPr txBox="1"/>
          <p:nvPr/>
        </p:nvSpPr>
        <p:spPr>
          <a:xfrm>
            <a:off x="7686663" y="4229255"/>
            <a:ext cx="35624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Benchmarking manuel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Suivi temporel complexe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Incohérences entre analystes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16E47A7-B69D-1CB9-EAF3-A2092E163C50}"/>
              </a:ext>
            </a:extLst>
          </p:cNvPr>
          <p:cNvSpPr/>
          <p:nvPr/>
        </p:nvSpPr>
        <p:spPr>
          <a:xfrm>
            <a:off x="1472767" y="6163291"/>
            <a:ext cx="9551265" cy="324582"/>
          </a:xfrm>
          <a:prstGeom prst="roundRect">
            <a:avLst/>
          </a:prstGeom>
          <a:solidFill>
            <a:srgbClr val="FEF3C7"/>
          </a:solidFill>
          <a:ln>
            <a:solidFill>
              <a:srgbClr val="CAB9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💡</a:t>
            </a:r>
            <a:r>
              <a:rPr lang="fr-FR" sz="2000" b="1" dirty="0">
                <a:solidFill>
                  <a:srgbClr val="002060"/>
                </a:solidFill>
              </a:rPr>
              <a:t>Comment automatiser tout en garantissant  la conformité ESRS ?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F4138-EB29-B37E-014C-663F3667B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46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5" grpId="0" animBg="1"/>
      <p:bldP spid="34" grpId="0" animBg="1"/>
      <p:bldP spid="36" grpId="0" animBg="1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6" grpId="0" build="allAtOnce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76174-919C-9681-0C12-1F2ED41ED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9885800-DD26-5DE6-CC3D-23E189890D74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0ED71E-3175-2D61-E2D4-E772BF406B3D}"/>
              </a:ext>
            </a:extLst>
          </p:cNvPr>
          <p:cNvSpPr txBox="1"/>
          <p:nvPr/>
        </p:nvSpPr>
        <p:spPr>
          <a:xfrm>
            <a:off x="1587062" y="299766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Problématique → Solution : ESG Report Analyser</a:t>
            </a:r>
            <a:endParaRPr lang="fr-FR" sz="3200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6E3BC6-4E11-0A02-C4B6-C435BAE3E5D2}"/>
              </a:ext>
            </a:extLst>
          </p:cNvPr>
          <p:cNvSpPr txBox="1"/>
          <p:nvPr/>
        </p:nvSpPr>
        <p:spPr>
          <a:xfrm>
            <a:off x="2907908" y="784492"/>
            <a:ext cx="6365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Premier outil marocain spécialisé ESRS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D36C70-F9F9-F368-B6A0-25680DB9E716}"/>
              </a:ext>
            </a:extLst>
          </p:cNvPr>
          <p:cNvSpPr/>
          <p:nvPr/>
        </p:nvSpPr>
        <p:spPr>
          <a:xfrm>
            <a:off x="1260850" y="1376540"/>
            <a:ext cx="3920567" cy="3310020"/>
          </a:xfrm>
          <a:prstGeom prst="roundRect">
            <a:avLst/>
          </a:prstGeom>
          <a:solidFill>
            <a:srgbClr val="E4DBFD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FD67E4-70B8-2930-AFF5-439DC96D9535}"/>
              </a:ext>
            </a:extLst>
          </p:cNvPr>
          <p:cNvSpPr/>
          <p:nvPr/>
        </p:nvSpPr>
        <p:spPr>
          <a:xfrm>
            <a:off x="7022507" y="1409197"/>
            <a:ext cx="3871006" cy="33100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12E6661-9A30-3CE6-1401-E8E273BACBC4}"/>
              </a:ext>
            </a:extLst>
          </p:cNvPr>
          <p:cNvSpPr/>
          <p:nvPr/>
        </p:nvSpPr>
        <p:spPr>
          <a:xfrm>
            <a:off x="3978441" y="4986621"/>
            <a:ext cx="4235118" cy="1571613"/>
          </a:xfrm>
          <a:prstGeom prst="roundRect">
            <a:avLst/>
          </a:prstGeom>
          <a:solidFill>
            <a:srgbClr val="FEF3C7"/>
          </a:solidFill>
          <a:ln w="28575">
            <a:solidFill>
              <a:srgbClr val="CAB9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02194E0-4D37-0C51-ACE4-353BA5DB8220}"/>
                  </a:ext>
                </a:extLst>
              </p14:cNvPr>
              <p14:cNvContentPartPr/>
              <p14:nvPr/>
            </p14:nvContentPartPr>
            <p14:xfrm>
              <a:off x="4876857" y="4122341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02194E0-4D37-0C51-ACE4-353BA5DB82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67857" y="411370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D314D9E-0F8A-4E3C-3992-380D6677A8A3}"/>
                  </a:ext>
                </a:extLst>
              </p14:cNvPr>
              <p14:cNvContentPartPr/>
              <p14:nvPr/>
            </p14:nvContentPartPr>
            <p14:xfrm>
              <a:off x="3608937" y="465190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D314D9E-0F8A-4E3C-3992-380D6677A8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99937" y="464290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C88B994-C58F-5D44-A0A3-B9D4B392AC13}"/>
                  </a:ext>
                </a:extLst>
              </p14:cNvPr>
              <p14:cNvContentPartPr/>
              <p14:nvPr/>
            </p14:nvContentPartPr>
            <p14:xfrm>
              <a:off x="5181417" y="5405741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C88B994-C58F-5D44-A0A3-B9D4B392AC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72417" y="539674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8442EB6-CDB8-7AFA-F397-F395FF23858A}"/>
                  </a:ext>
                </a:extLst>
              </p14:cNvPr>
              <p14:cNvContentPartPr/>
              <p14:nvPr/>
            </p14:nvContentPartPr>
            <p14:xfrm>
              <a:off x="3561417" y="4636421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8442EB6-CDB8-7AFA-F397-F395FF2385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52777" y="462742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Arrow: Bent 22">
            <a:extLst>
              <a:ext uri="{FF2B5EF4-FFF2-40B4-BE49-F238E27FC236}">
                <a16:creationId xmlns:a16="http://schemas.microsoft.com/office/drawing/2014/main" id="{506A88FB-E046-2666-85C1-C7C1C36F30A2}"/>
              </a:ext>
            </a:extLst>
          </p:cNvPr>
          <p:cNvSpPr/>
          <p:nvPr/>
        </p:nvSpPr>
        <p:spPr>
          <a:xfrm rot="10800000" flipH="1">
            <a:off x="3179379" y="4686559"/>
            <a:ext cx="751965" cy="1044301"/>
          </a:xfrm>
          <a:prstGeom prst="bentArrow">
            <a:avLst>
              <a:gd name="adj1" fmla="val 27133"/>
              <a:gd name="adj2" fmla="val 25000"/>
              <a:gd name="adj3" fmla="val 25000"/>
              <a:gd name="adj4" fmla="val 43750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129776-F21C-F6B8-F634-98A07E78F142}"/>
              </a:ext>
            </a:extLst>
          </p:cNvPr>
          <p:cNvSpPr txBox="1"/>
          <p:nvPr/>
        </p:nvSpPr>
        <p:spPr>
          <a:xfrm>
            <a:off x="1570837" y="1549121"/>
            <a:ext cx="3288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accent5">
                    <a:lumMod val="50000"/>
                  </a:schemeClr>
                </a:solidFill>
              </a:rPr>
              <a:t>ANALYSE IA AVANCÉE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2D15B4-5C95-AE27-7B12-F9A51E6F29B8}"/>
              </a:ext>
            </a:extLst>
          </p:cNvPr>
          <p:cNvSpPr txBox="1"/>
          <p:nvPr/>
        </p:nvSpPr>
        <p:spPr>
          <a:xfrm>
            <a:off x="7313832" y="1566018"/>
            <a:ext cx="3288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accent6">
                    <a:lumMod val="50000"/>
                  </a:schemeClr>
                </a:solidFill>
              </a:rPr>
              <a:t>ANALYSE MOTS-CLÉS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6FE9E0-F5F9-5B2E-E011-64AA95C45F72}"/>
              </a:ext>
            </a:extLst>
          </p:cNvPr>
          <p:cNvSpPr txBox="1"/>
          <p:nvPr/>
        </p:nvSpPr>
        <p:spPr>
          <a:xfrm>
            <a:off x="4212480" y="5064465"/>
            <a:ext cx="3765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B9A26F"/>
                </a:solidFill>
              </a:rPr>
              <a:t>COMPLÉMENTARITÉ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E96C11-B00B-A302-66D4-BDB52C66CE05}"/>
              </a:ext>
            </a:extLst>
          </p:cNvPr>
          <p:cNvSpPr txBox="1"/>
          <p:nvPr/>
        </p:nvSpPr>
        <p:spPr>
          <a:xfrm>
            <a:off x="1480528" y="1953123"/>
            <a:ext cx="27210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Modèle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GPT-4 premium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GPT 3.5 turbo </a:t>
            </a:r>
            <a:r>
              <a:rPr lang="fr-FR" dirty="0" err="1"/>
              <a:t>Fallback</a:t>
            </a:r>
            <a:endParaRPr lang="fr-FR" dirty="0"/>
          </a:p>
          <a:p>
            <a:r>
              <a:rPr lang="fr-FR" sz="2000" b="1" dirty="0"/>
              <a:t>Génération: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Score E1-E5/20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Synthèse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Plan d’action</a:t>
            </a:r>
          </a:p>
          <a:p>
            <a:r>
              <a:rPr lang="fr-FR" sz="2000" b="1" dirty="0"/>
              <a:t>Puissance: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Profondeur</a:t>
            </a:r>
          </a:p>
        </p:txBody>
      </p:sp>
      <p:sp>
        <p:nvSpPr>
          <p:cNvPr id="29" name="Arrow: Bent 28">
            <a:extLst>
              <a:ext uri="{FF2B5EF4-FFF2-40B4-BE49-F238E27FC236}">
                <a16:creationId xmlns:a16="http://schemas.microsoft.com/office/drawing/2014/main" id="{E3A17697-7217-9A16-717E-4E5D7FFE815C}"/>
              </a:ext>
            </a:extLst>
          </p:cNvPr>
          <p:cNvSpPr/>
          <p:nvPr/>
        </p:nvSpPr>
        <p:spPr>
          <a:xfrm rot="10800000">
            <a:off x="8255302" y="4719217"/>
            <a:ext cx="751965" cy="1044301"/>
          </a:xfrm>
          <a:prstGeom prst="bentArrow">
            <a:avLst>
              <a:gd name="adj1" fmla="val 27133"/>
              <a:gd name="adj2" fmla="val 25000"/>
              <a:gd name="adj3" fmla="val 25000"/>
              <a:gd name="adj4" fmla="val 43750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044A69-8E43-8E88-3F07-8A4C37C71583}"/>
              </a:ext>
            </a:extLst>
          </p:cNvPr>
          <p:cNvSpPr txBox="1"/>
          <p:nvPr/>
        </p:nvSpPr>
        <p:spPr>
          <a:xfrm>
            <a:off x="7205563" y="2005429"/>
            <a:ext cx="32883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Base lexicale: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Environ 300 termes FR/EN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Alignés ESRS E1 – E5</a:t>
            </a:r>
          </a:p>
          <a:p>
            <a:r>
              <a:rPr lang="fr-FR" sz="2000" b="1" dirty="0"/>
              <a:t>Détection: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Automatique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Contextuelle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Traçable </a:t>
            </a:r>
          </a:p>
          <a:p>
            <a:r>
              <a:rPr lang="fr-FR" sz="2000" b="1" dirty="0"/>
              <a:t>Transparence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Explicabilité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35BF1E-B70D-899F-298B-E6A17BB97F52}"/>
              </a:ext>
            </a:extLst>
          </p:cNvPr>
          <p:cNvSpPr txBox="1"/>
          <p:nvPr/>
        </p:nvSpPr>
        <p:spPr>
          <a:xfrm>
            <a:off x="4255351" y="5448803"/>
            <a:ext cx="30241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/>
              <a:t>Fiabilité maximale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/>
              <a:t>Validation croisée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/>
              <a:t>Conformité garantie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320EB3D-C0BB-821F-D2AA-47610D385D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2337" y="3167896"/>
            <a:ext cx="998510" cy="99851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61FD221-8373-0582-83EB-AC885EA68B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4857" y="3177447"/>
            <a:ext cx="998510" cy="99851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3B66070-EC36-3FB7-5FE5-CEF38E8099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12104" y="5405741"/>
            <a:ext cx="998510" cy="99851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54F509-C443-BBA2-77E1-62C1BEBDA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4320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9" grpId="0" animBg="1"/>
      <p:bldP spid="23" grpId="0" animBg="1"/>
      <p:bldP spid="25" grpId="0"/>
      <p:bldP spid="26" grpId="0"/>
      <p:bldP spid="27" grpId="0"/>
      <p:bldP spid="28" grpId="0"/>
      <p:bldP spid="29" grpId="0" animBg="1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D416B-9A08-9A6B-8BCC-972645874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9108FE1E-8A69-F5CC-4784-C33E110F8C04}"/>
              </a:ext>
            </a:extLst>
          </p:cNvPr>
          <p:cNvSpPr txBox="1"/>
          <p:nvPr/>
        </p:nvSpPr>
        <p:spPr>
          <a:xfrm>
            <a:off x="8291557" y="2717688"/>
            <a:ext cx="3274801" cy="3094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3D5047-2774-F0B6-6268-C0BCB8D37975}"/>
              </a:ext>
            </a:extLst>
          </p:cNvPr>
          <p:cNvSpPr/>
          <p:nvPr/>
        </p:nvSpPr>
        <p:spPr>
          <a:xfrm>
            <a:off x="142168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A186A3-6CBF-7D01-8C06-05419D106A9D}"/>
              </a:ext>
            </a:extLst>
          </p:cNvPr>
          <p:cNvSpPr txBox="1"/>
          <p:nvPr/>
        </p:nvSpPr>
        <p:spPr>
          <a:xfrm>
            <a:off x="1587062" y="299766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Architecture du système :</a:t>
            </a:r>
            <a:endParaRPr lang="fr-FR" sz="3200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7A3ADF-2D0E-9739-F9FC-7ADECA8EAB83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BA8952C-3353-273F-00A4-396D3E6C4251}"/>
              </a:ext>
            </a:extLst>
          </p:cNvPr>
          <p:cNvSpPr/>
          <p:nvPr/>
        </p:nvSpPr>
        <p:spPr>
          <a:xfrm>
            <a:off x="352098" y="1091901"/>
            <a:ext cx="3785937" cy="4891086"/>
          </a:xfrm>
          <a:prstGeom prst="roundRect">
            <a:avLst/>
          </a:prstGeom>
          <a:solidFill>
            <a:srgbClr val="E7EEF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5F07FCB-AA85-7F0E-0059-EF3711F2F7AA}"/>
              </a:ext>
            </a:extLst>
          </p:cNvPr>
          <p:cNvSpPr/>
          <p:nvPr/>
        </p:nvSpPr>
        <p:spPr>
          <a:xfrm>
            <a:off x="8147318" y="1046247"/>
            <a:ext cx="3637405" cy="4891087"/>
          </a:xfrm>
          <a:prstGeom prst="roundRect">
            <a:avLst/>
          </a:prstGeom>
          <a:solidFill>
            <a:srgbClr val="E7EEF1"/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0FB5A2-C575-675E-5D24-88D5342D37AD}"/>
              </a:ext>
            </a:extLst>
          </p:cNvPr>
          <p:cNvSpPr/>
          <p:nvPr/>
        </p:nvSpPr>
        <p:spPr>
          <a:xfrm>
            <a:off x="4323974" y="1046246"/>
            <a:ext cx="3637405" cy="4891087"/>
          </a:xfrm>
          <a:prstGeom prst="roundRect">
            <a:avLst/>
          </a:prstGeom>
          <a:solidFill>
            <a:srgbClr val="E7EEF1"/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75FF63-D49A-42B9-FB20-4A24483FE61D}"/>
              </a:ext>
            </a:extLst>
          </p:cNvPr>
          <p:cNvSpPr txBox="1"/>
          <p:nvPr/>
        </p:nvSpPr>
        <p:spPr>
          <a:xfrm>
            <a:off x="997185" y="1283052"/>
            <a:ext cx="2406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accent1">
                    <a:lumMod val="50000"/>
                  </a:schemeClr>
                </a:solidFill>
              </a:rPr>
              <a:t>BACKEND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BE1197-2332-6104-1015-06FC9C5D453E}"/>
              </a:ext>
            </a:extLst>
          </p:cNvPr>
          <p:cNvSpPr txBox="1"/>
          <p:nvPr/>
        </p:nvSpPr>
        <p:spPr>
          <a:xfrm>
            <a:off x="4960331" y="1283052"/>
            <a:ext cx="2406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accent1">
                    <a:lumMod val="50000"/>
                  </a:schemeClr>
                </a:solidFill>
              </a:rPr>
              <a:t>FRONTEND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48834-F312-EFAC-2E83-E36553640EFA}"/>
              </a:ext>
            </a:extLst>
          </p:cNvPr>
          <p:cNvSpPr txBox="1"/>
          <p:nvPr/>
        </p:nvSpPr>
        <p:spPr>
          <a:xfrm>
            <a:off x="8762862" y="1283052"/>
            <a:ext cx="2406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accent1">
                    <a:lumMod val="50000"/>
                  </a:schemeClr>
                </a:solidFill>
              </a:rPr>
              <a:t>AI EXTERNE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E44FC8-F843-86D6-F21D-5AA1C7633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331" y="1812941"/>
            <a:ext cx="864825" cy="8648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F788F7-920C-5A23-D3C6-69709CD70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529" y="1670062"/>
            <a:ext cx="1156118" cy="1156118"/>
          </a:xfrm>
          <a:prstGeom prst="rect">
            <a:avLst/>
          </a:prstGeom>
        </p:spPr>
      </p:pic>
      <p:pic>
        <p:nvPicPr>
          <p:cNvPr id="15" name="Picture 14" descr="Inmagik | Software, web and mobile solutions">
            <a:extLst>
              <a:ext uri="{FF2B5EF4-FFF2-40B4-BE49-F238E27FC236}">
                <a16:creationId xmlns:a16="http://schemas.microsoft.com/office/drawing/2014/main" id="{B4937ECA-77F9-4B5B-C9F3-51CE2B7E876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7260" b="70002" l="36337" r="62988">
                        <a14:foregroundMark x1="52381" y1="48676" x2="51681" y2="42566"/>
                        <a14:foregroundMark x1="54902" y1="50305" x2="46078" y2="39715"/>
                        <a14:foregroundMark x1="46078" y1="39715" x2="46499" y2="42159"/>
                        <a14:foregroundMark x1="51401" y1="51935" x2="49300" y2="36864"/>
                        <a14:foregroundMark x1="49300" y1="36864" x2="47619" y2="44196"/>
                        <a14:backgroundMark x1="27871" y1="20570" x2="56022" y2="28310"/>
                        <a14:backgroundMark x1="56022" y1="28310" x2="62465" y2="25662"/>
                        <a14:backgroundMark x1="32073" y1="24033" x2="32353" y2="48065"/>
                        <a14:backgroundMark x1="32353" y1="48065" x2="30672" y2="18534"/>
                        <a14:backgroundMark x1="32773" y1="47251" x2="33193" y2="62933"/>
                        <a14:backgroundMark x1="33193" y1="62933" x2="43697" y2="77597"/>
                        <a14:backgroundMark x1="43697" y1="77597" x2="60364" y2="76782"/>
                        <a14:backgroundMark x1="60364" y1="76782" x2="69188" y2="34623"/>
                        <a14:backgroundMark x1="69188" y1="34623" x2="52101" y2="17312"/>
                        <a14:backgroundMark x1="52101" y1="17312" x2="39916" y2="15682"/>
                        <a14:backgroundMark x1="39916" y1="15682" x2="31653" y2="334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360" t="26381" r="35714" b="36390"/>
          <a:stretch>
            <a:fillRect/>
          </a:stretch>
        </p:blipFill>
        <p:spPr bwMode="auto">
          <a:xfrm>
            <a:off x="763470" y="1694162"/>
            <a:ext cx="1138776" cy="105865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Picture 15" descr="1. Writing To a Database using SQLite3 in Python (Great for NEA /  Controlled Assessment practice!) | Teaching Resources">
            <a:extLst>
              <a:ext uri="{FF2B5EF4-FFF2-40B4-BE49-F238E27FC236}">
                <a16:creationId xmlns:a16="http://schemas.microsoft.com/office/drawing/2014/main" id="{5235B8C3-3DBD-C6E3-807F-74B60D1D541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3" t="17579" r="9413" b="12727"/>
          <a:stretch>
            <a:fillRect/>
          </a:stretch>
        </p:blipFill>
        <p:spPr bwMode="auto">
          <a:xfrm>
            <a:off x="2088185" y="1740927"/>
            <a:ext cx="1660583" cy="10533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34" name="Picture 10" descr="Openrouter Icon SVG Vector &amp; PNG Free Download | UXWing">
            <a:extLst>
              <a:ext uri="{FF2B5EF4-FFF2-40B4-BE49-F238E27FC236}">
                <a16:creationId xmlns:a16="http://schemas.microsoft.com/office/drawing/2014/main" id="{50C811B2-AE05-FD42-5608-35433A2B7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9242" y="1773018"/>
            <a:ext cx="944670" cy="944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0C34D6C-28B1-74D6-2427-D91B430B92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03815" y="1782889"/>
            <a:ext cx="944670" cy="94467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44C4CC4-7AD4-58CF-0435-7AB5DC5CB09C}"/>
              </a:ext>
            </a:extLst>
          </p:cNvPr>
          <p:cNvSpPr txBox="1"/>
          <p:nvPr/>
        </p:nvSpPr>
        <p:spPr>
          <a:xfrm>
            <a:off x="4379169" y="2737889"/>
            <a:ext cx="35270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Technologies :</a:t>
            </a:r>
            <a:r>
              <a:rPr lang="fr-FR" dirty="0"/>
              <a:t> </a:t>
            </a:r>
          </a:p>
          <a:p>
            <a:r>
              <a:rPr lang="fr-FR" dirty="0"/>
              <a:t>React.js, </a:t>
            </a:r>
            <a:r>
              <a:rPr lang="fr-FR" dirty="0" err="1"/>
              <a:t>TailwindCSS</a:t>
            </a:r>
            <a:endParaRPr lang="fr-FR" dirty="0"/>
          </a:p>
          <a:p>
            <a:r>
              <a:rPr lang="fr-FR" b="1" dirty="0"/>
              <a:t>Outils :</a:t>
            </a:r>
            <a:r>
              <a:rPr lang="fr-FR" dirty="0"/>
              <a:t> Axios, </a:t>
            </a:r>
            <a:r>
              <a:rPr lang="fr-FR" dirty="0" err="1"/>
              <a:t>React</a:t>
            </a:r>
            <a:r>
              <a:rPr lang="fr-FR" dirty="0"/>
              <a:t> Router, JWT (authentification)</a:t>
            </a:r>
          </a:p>
          <a:p>
            <a:r>
              <a:rPr lang="fr-FR" b="1" dirty="0"/>
              <a:t>Rôle :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Interface utilisateur responsive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Téléversement et affichage des rapports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Visualisation des analyses et comparaisons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E7FF59-DC82-F0A1-6D0C-A7A59491678A}"/>
              </a:ext>
            </a:extLst>
          </p:cNvPr>
          <p:cNvSpPr txBox="1"/>
          <p:nvPr/>
        </p:nvSpPr>
        <p:spPr>
          <a:xfrm>
            <a:off x="499136" y="2794312"/>
            <a:ext cx="34918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Technologies : </a:t>
            </a:r>
          </a:p>
          <a:p>
            <a:r>
              <a:rPr lang="fr-FR" dirty="0" err="1"/>
              <a:t>FastAPI</a:t>
            </a:r>
            <a:r>
              <a:rPr lang="fr-FR" dirty="0"/>
              <a:t>, SQLite</a:t>
            </a:r>
          </a:p>
          <a:p>
            <a:r>
              <a:rPr lang="fr-FR" b="1" dirty="0"/>
              <a:t>Outils : </a:t>
            </a:r>
            <a:r>
              <a:rPr lang="fr-FR" dirty="0" err="1"/>
              <a:t>pdfplumber</a:t>
            </a:r>
            <a:r>
              <a:rPr lang="fr-FR" dirty="0"/>
              <a:t>, </a:t>
            </a:r>
            <a:r>
              <a:rPr lang="fr-FR" dirty="0" err="1"/>
              <a:t>PyMuPDF</a:t>
            </a:r>
            <a:r>
              <a:rPr lang="fr-FR" dirty="0"/>
              <a:t>, JSON, JWT</a:t>
            </a:r>
          </a:p>
          <a:p>
            <a:r>
              <a:rPr lang="fr-FR" b="1" dirty="0"/>
              <a:t>Rôle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Logique métier et APIs 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Extraction du texte et des tableaux PDF/HTML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Analyse par mots-clés et </a:t>
            </a:r>
            <a:r>
              <a:rPr lang="fr-FR" dirty="0" err="1"/>
              <a:t>scoring</a:t>
            </a:r>
            <a:r>
              <a:rPr lang="fr-FR" dirty="0"/>
              <a:t> ESRS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5FF10D-1AC4-8D33-F72F-4DC6DE426285}"/>
              </a:ext>
            </a:extLst>
          </p:cNvPr>
          <p:cNvSpPr txBox="1"/>
          <p:nvPr/>
        </p:nvSpPr>
        <p:spPr>
          <a:xfrm>
            <a:off x="8291557" y="2757819"/>
            <a:ext cx="340130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Technologies </a:t>
            </a:r>
            <a:r>
              <a:rPr lang="fr-FR" dirty="0"/>
              <a:t>:</a:t>
            </a:r>
          </a:p>
          <a:p>
            <a:r>
              <a:rPr lang="fr-FR" dirty="0" err="1"/>
              <a:t>OpenRouter</a:t>
            </a:r>
            <a:r>
              <a:rPr lang="fr-FR" dirty="0"/>
              <a:t> API</a:t>
            </a:r>
          </a:p>
          <a:p>
            <a:r>
              <a:rPr lang="fr-FR" b="1" dirty="0"/>
              <a:t>Modèles utilisés : </a:t>
            </a:r>
            <a:r>
              <a:rPr lang="fr-FR" dirty="0"/>
              <a:t>GPT-4o - GPT-3.5-Turbo </a:t>
            </a:r>
          </a:p>
          <a:p>
            <a:r>
              <a:rPr lang="fr-FR" b="1" dirty="0"/>
              <a:t>Rôle </a:t>
            </a:r>
            <a:r>
              <a:rPr lang="fr-FR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Analyse sémantique et interprétation ESG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Génération de synthèses et recommandations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Mécanisme de </a:t>
            </a:r>
            <a:r>
              <a:rPr lang="fr-FR" dirty="0" err="1"/>
              <a:t>fallback</a:t>
            </a:r>
            <a:r>
              <a:rPr lang="fr-FR" dirty="0"/>
              <a:t> automatique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975B0B-E6FB-F7AB-A63C-C152ABD7C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2959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FC8330-2AA0-28D0-02A1-F16782CB2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C96B463-1946-7633-46AB-C0D5FD818F1F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3FB050-6F48-AADD-3060-1276D62E5576}"/>
              </a:ext>
            </a:extLst>
          </p:cNvPr>
          <p:cNvSpPr txBox="1"/>
          <p:nvPr/>
        </p:nvSpPr>
        <p:spPr>
          <a:xfrm>
            <a:off x="1587062" y="299766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Conception du système : Diagrammes UML</a:t>
            </a:r>
            <a:endParaRPr lang="fr-FR" sz="3200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459F13-C8A2-F2E3-C945-A714716AC252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pic>
        <p:nvPicPr>
          <p:cNvPr id="2" name="Picture 1" descr="A diagram of a company&#10;&#10;AI-generated content may be incorrect.">
            <a:extLst>
              <a:ext uri="{FF2B5EF4-FFF2-40B4-BE49-F238E27FC236}">
                <a16:creationId xmlns:a16="http://schemas.microsoft.com/office/drawing/2014/main" id="{39B1B335-9770-E926-4E6F-7396BA863C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134" y="827281"/>
            <a:ext cx="5760720" cy="55416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B0E301-8290-C5A3-51A5-219E8829B592}"/>
              </a:ext>
            </a:extLst>
          </p:cNvPr>
          <p:cNvSpPr txBox="1"/>
          <p:nvPr/>
        </p:nvSpPr>
        <p:spPr>
          <a:xfrm>
            <a:off x="620460" y="2863297"/>
            <a:ext cx="3928768" cy="954107"/>
          </a:xfrm>
          <a:prstGeom prst="rect">
            <a:avLst/>
          </a:prstGeom>
          <a:solidFill>
            <a:srgbClr val="E7EEF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002060"/>
                </a:solidFill>
              </a:rPr>
              <a:t>Diagramme de Cas d’utilisation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1DF46B-74D4-145A-1C59-44E9F5FB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7545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6AD0E-09F6-C01A-7C57-AE3DE0744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88A1A20-DCDD-FB92-6EF2-E8C12A80F362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F1747E-AB66-E22D-611F-5964F7A05250}"/>
              </a:ext>
            </a:extLst>
          </p:cNvPr>
          <p:cNvSpPr txBox="1"/>
          <p:nvPr/>
        </p:nvSpPr>
        <p:spPr>
          <a:xfrm>
            <a:off x="1587062" y="299766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Conception du système : Diagramme UML</a:t>
            </a:r>
            <a:endParaRPr lang="fr-FR" sz="3200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124AE3-BF11-CD1D-65AA-BB807492902F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01968F-16C0-0722-58A5-1ED28261FEA9}"/>
              </a:ext>
            </a:extLst>
          </p:cNvPr>
          <p:cNvSpPr txBox="1"/>
          <p:nvPr/>
        </p:nvSpPr>
        <p:spPr>
          <a:xfrm>
            <a:off x="396605" y="3418173"/>
            <a:ext cx="3813154" cy="523220"/>
          </a:xfrm>
          <a:prstGeom prst="rect">
            <a:avLst/>
          </a:prstGeom>
          <a:solidFill>
            <a:srgbClr val="E7EEF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002060"/>
                </a:solidFill>
              </a:rPr>
              <a:t>Diagramme de Classe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9DC38BE-7DEC-25CA-7733-FB448B2797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759" y="1571120"/>
            <a:ext cx="7251401" cy="474054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1D9052-1ECD-02D6-2800-D3C10DA51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1869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C6BDFA-001B-48CE-2C4F-92D28BFD5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81BF10B-085A-87A0-026E-92ABC068C7F0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620DB-D538-DC77-0C55-5AE6B2A1EED4}"/>
              </a:ext>
            </a:extLst>
          </p:cNvPr>
          <p:cNvSpPr txBox="1"/>
          <p:nvPr/>
        </p:nvSpPr>
        <p:spPr>
          <a:xfrm>
            <a:off x="1587062" y="299766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Conception du système : Diagramme UML</a:t>
            </a:r>
            <a:endParaRPr lang="fr-FR" sz="3200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9E8549-40B4-FDA2-FB9F-D1F08DEAC8E4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BB6C9E-D761-D213-AA22-D7469A2D91AA}"/>
              </a:ext>
            </a:extLst>
          </p:cNvPr>
          <p:cNvSpPr txBox="1"/>
          <p:nvPr/>
        </p:nvSpPr>
        <p:spPr>
          <a:xfrm>
            <a:off x="816125" y="3167390"/>
            <a:ext cx="4492475" cy="800219"/>
          </a:xfrm>
          <a:prstGeom prst="rect">
            <a:avLst/>
          </a:prstGeom>
          <a:solidFill>
            <a:srgbClr val="E7EEF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002060"/>
                </a:solidFill>
              </a:rPr>
              <a:t>Diagramme de Séquence</a:t>
            </a:r>
          </a:p>
          <a:p>
            <a:pPr algn="ctr"/>
            <a:r>
              <a:rPr lang="fr-FR" b="1" dirty="0">
                <a:solidFill>
                  <a:srgbClr val="002060"/>
                </a:solidFill>
              </a:rPr>
              <a:t>Cas : Analyse Individuelle</a:t>
            </a:r>
            <a:endParaRPr lang="ar-AE" b="1" dirty="0">
              <a:solidFill>
                <a:srgbClr val="002060"/>
              </a:solidFill>
            </a:endParaRPr>
          </a:p>
        </p:txBody>
      </p:sp>
      <p:pic>
        <p:nvPicPr>
          <p:cNvPr id="6" name="Picture 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E3BDAEE-49E8-A554-F50A-F4F5CA925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731" y="1176625"/>
            <a:ext cx="4767483" cy="513504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8CBA46-F02B-9FC1-D54C-B4FC3A5E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689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800C3E-6DB5-5B1A-2DE7-0DBD7FE84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EA5EB64-077F-4B6E-34DA-A1924B9B6481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F1C40D-4D42-DCA0-4EAB-8C9D6D6D249E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98EBA1-4745-06D5-B546-0C0FB373EFD9}"/>
              </a:ext>
            </a:extLst>
          </p:cNvPr>
          <p:cNvSpPr txBox="1"/>
          <p:nvPr/>
        </p:nvSpPr>
        <p:spPr>
          <a:xfrm>
            <a:off x="1566041" y="207780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Réalisation et Démonstration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DEB44-CD4E-64A1-BD5A-476CECF0B6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541"/>
          <a:stretch>
            <a:fillRect/>
          </a:stretch>
        </p:blipFill>
        <p:spPr bwMode="auto">
          <a:xfrm>
            <a:off x="541006" y="1117194"/>
            <a:ext cx="11099476" cy="10912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A9DED7-A008-265D-1107-1F2069068B4A}"/>
              </a:ext>
            </a:extLst>
          </p:cNvPr>
          <p:cNvSpPr txBox="1"/>
          <p:nvPr/>
        </p:nvSpPr>
        <p:spPr>
          <a:xfrm>
            <a:off x="2907908" y="784492"/>
            <a:ext cx="6365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Les tableaux de la base de données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497AD0-ABA4-B685-269D-E40A4DFE95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00"/>
          <a:stretch>
            <a:fillRect/>
          </a:stretch>
        </p:blipFill>
        <p:spPr bwMode="auto">
          <a:xfrm>
            <a:off x="541006" y="2293087"/>
            <a:ext cx="11099476" cy="18863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53846F-8CED-8F8E-CCF6-E166A0A83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06" y="4370472"/>
            <a:ext cx="11099476" cy="10154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B25210-95E1-F201-DB2B-2CDBF4B1BD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975" y="5513548"/>
            <a:ext cx="10975537" cy="69806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6A027B-82B3-95C7-C82B-CA2AEAB4D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5541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2C12B8-E153-0F5F-FED1-1930BAAE6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295E4AC-2ADB-6248-E5EC-A078A8A2D448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12E1BC-50F7-EBC0-D663-273D580587A2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C17DB3-090B-BB2A-10DC-069AD54E7B8B}"/>
              </a:ext>
            </a:extLst>
          </p:cNvPr>
          <p:cNvSpPr txBox="1"/>
          <p:nvPr/>
        </p:nvSpPr>
        <p:spPr>
          <a:xfrm>
            <a:off x="1566041" y="207780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Réalisation et Démonstration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C5874B-0431-8C5B-EAAA-EDB68D9A0D8F}"/>
              </a:ext>
            </a:extLst>
          </p:cNvPr>
          <p:cNvSpPr txBox="1"/>
          <p:nvPr/>
        </p:nvSpPr>
        <p:spPr>
          <a:xfrm>
            <a:off x="2907908" y="784492"/>
            <a:ext cx="6365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La vitrine de l’application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C7AD31-08D2-0CA2-BE41-215C14E270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52" y="1145335"/>
            <a:ext cx="10177854" cy="51663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22BD4-895B-2CAD-A490-936F0829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103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B5B37-0EBE-A2CC-3E6E-2937C658D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78ACE57-E42F-B129-CEFB-373C91E032FF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71CBD5-F1B4-46CA-73CE-BC5EE8A7B308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42D79F-8026-ED96-38C7-D66A8E0BF46F}"/>
              </a:ext>
            </a:extLst>
          </p:cNvPr>
          <p:cNvSpPr txBox="1"/>
          <p:nvPr/>
        </p:nvSpPr>
        <p:spPr>
          <a:xfrm>
            <a:off x="1566041" y="207780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Réalisation et Démonstration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FFEBD6-F848-6E91-5DCF-F63A3E7FED1E}"/>
              </a:ext>
            </a:extLst>
          </p:cNvPr>
          <p:cNvSpPr txBox="1"/>
          <p:nvPr/>
        </p:nvSpPr>
        <p:spPr>
          <a:xfrm>
            <a:off x="2907908" y="784492"/>
            <a:ext cx="6365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Inscription et Connexion</a:t>
            </a:r>
          </a:p>
        </p:txBody>
      </p:sp>
      <p:pic>
        <p:nvPicPr>
          <p:cNvPr id="4" name="Picture 3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86B7EB82-1C58-6D8D-60C4-A455915EF2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90" y="1257673"/>
            <a:ext cx="5538452" cy="3823118"/>
          </a:xfrm>
          <a:prstGeom prst="rect">
            <a:avLst/>
          </a:prstGeom>
        </p:spPr>
      </p:pic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D7A3D47-2031-3AE4-FAB3-9CEA4EDF3A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552" y="2862579"/>
            <a:ext cx="5836149" cy="336815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44646A-D664-D82C-9AD5-B5403B6B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431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3A99F8-9868-8BB6-6A30-B22575B80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97645FC-96BE-ADEA-3A24-A02F63AE529E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4A8E5-AAC8-4241-092A-38FDCFA16CC3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497292-EF37-4BBC-6A84-3AC81225890E}"/>
              </a:ext>
            </a:extLst>
          </p:cNvPr>
          <p:cNvSpPr txBox="1"/>
          <p:nvPr/>
        </p:nvSpPr>
        <p:spPr>
          <a:xfrm>
            <a:off x="1566041" y="207780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Réalisation et Démonstration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D37BB-CB4A-E9DC-515E-6B3378FAD1A7}"/>
              </a:ext>
            </a:extLst>
          </p:cNvPr>
          <p:cNvSpPr txBox="1"/>
          <p:nvPr/>
        </p:nvSpPr>
        <p:spPr>
          <a:xfrm>
            <a:off x="2907908" y="784492"/>
            <a:ext cx="6365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Dashboard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0FF133-1997-AA2C-D91A-D455C5D02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09" y="1161294"/>
            <a:ext cx="10291091" cy="486021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1C6697-A319-D607-7085-17E396B5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7533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4A50CC-0022-E68A-A9E3-1CD6C6C1B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89A05-BB59-00A3-2C80-01FD45F11669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953870-AB72-C9A4-D3B8-49719FEB1EA4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ACF6CB-B81B-25A3-798B-9EF26E5C12B5}"/>
              </a:ext>
            </a:extLst>
          </p:cNvPr>
          <p:cNvSpPr txBox="1"/>
          <p:nvPr/>
        </p:nvSpPr>
        <p:spPr>
          <a:xfrm>
            <a:off x="1566041" y="207780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Réalisation et Démonstration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0F8ED2-9565-7F2D-E172-BE580B81768F}"/>
              </a:ext>
            </a:extLst>
          </p:cNvPr>
          <p:cNvSpPr txBox="1"/>
          <p:nvPr/>
        </p:nvSpPr>
        <p:spPr>
          <a:xfrm>
            <a:off x="2907908" y="784492"/>
            <a:ext cx="6365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Liste des rapports uploadés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A56070-8D72-5883-8D53-34539C8F1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84" y="1184602"/>
            <a:ext cx="10887832" cy="488104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91CE7-CF60-516A-E47C-89D3C398E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6872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8498B4-20E8-5229-CF38-6B5A467BE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0BCA67-9DE6-59AB-2CAE-4E11FF799ED1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22EFA5-B912-59FD-2E97-26970FE61844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C843F2-E893-8C36-48BC-E61C3CE3E623}"/>
              </a:ext>
            </a:extLst>
          </p:cNvPr>
          <p:cNvSpPr txBox="1"/>
          <p:nvPr/>
        </p:nvSpPr>
        <p:spPr>
          <a:xfrm>
            <a:off x="1566041" y="207780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Réalisation et Démonstration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CF8EB-2082-FA61-C015-E82AC4581693}"/>
              </a:ext>
            </a:extLst>
          </p:cNvPr>
          <p:cNvSpPr txBox="1"/>
          <p:nvPr/>
        </p:nvSpPr>
        <p:spPr>
          <a:xfrm>
            <a:off x="2907908" y="784492"/>
            <a:ext cx="6365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Choix d’analyse individuelle avec AI</a:t>
            </a:r>
          </a:p>
        </p:txBody>
      </p:sp>
      <p:pic>
        <p:nvPicPr>
          <p:cNvPr id="4" name="Picture 3" descr="A screenshot of a chat&#10;&#10;AI-generated content may be incorrect.">
            <a:extLst>
              <a:ext uri="{FF2B5EF4-FFF2-40B4-BE49-F238E27FC236}">
                <a16:creationId xmlns:a16="http://schemas.microsoft.com/office/drawing/2014/main" id="{D39952F4-CB7B-6898-27B8-45EAFCD503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61" y="1369267"/>
            <a:ext cx="6365674" cy="2128908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015045-6EC4-60C7-4A53-860897DDB7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95" y="3657837"/>
            <a:ext cx="5899622" cy="226178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7F8A9C-EB02-74D9-3873-4F1BF9A52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4271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80BE32-F616-CB70-DA12-152AC2806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A1ED349-7940-8594-7024-A25F8177C401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E6BD07-A175-A473-1C1F-2501367D081E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713E47-7194-4014-25EF-016017168846}"/>
              </a:ext>
            </a:extLst>
          </p:cNvPr>
          <p:cNvSpPr txBox="1"/>
          <p:nvPr/>
        </p:nvSpPr>
        <p:spPr>
          <a:xfrm>
            <a:off x="1566041" y="207780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Réalisation et Démonstration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41C9C-048A-BD67-A31B-1823D7BB4396}"/>
              </a:ext>
            </a:extLst>
          </p:cNvPr>
          <p:cNvSpPr txBox="1"/>
          <p:nvPr/>
        </p:nvSpPr>
        <p:spPr>
          <a:xfrm>
            <a:off x="2907908" y="784492"/>
            <a:ext cx="682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Exemple résultat de l’analyse avec IA (rapport </a:t>
            </a:r>
            <a:r>
              <a:rPr lang="fr-FR" sz="20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Stellantis</a:t>
            </a:r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)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66DE57-C553-DEEB-8886-00AD66D387B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442"/>
          <a:stretch>
            <a:fillRect/>
          </a:stretch>
        </p:blipFill>
        <p:spPr bwMode="auto">
          <a:xfrm>
            <a:off x="521389" y="1643211"/>
            <a:ext cx="11138712" cy="33713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99CF3-FD8D-C63D-88F5-CD47F7140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9280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0B3F44-D931-7881-E0AB-877A8FE37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37F87FD-2A5B-596A-CF20-C09057169FE5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1B9DE8-2074-930B-0C5B-0A790F451954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1F2149-D5EA-68B7-4E96-9A641E6A89AD}"/>
              </a:ext>
            </a:extLst>
          </p:cNvPr>
          <p:cNvSpPr txBox="1"/>
          <p:nvPr/>
        </p:nvSpPr>
        <p:spPr>
          <a:xfrm>
            <a:off x="1566041" y="207780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Réalisation et Démonstration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12D61-D1AD-230C-85F5-B040BC1015A7}"/>
              </a:ext>
            </a:extLst>
          </p:cNvPr>
          <p:cNvSpPr txBox="1"/>
          <p:nvPr/>
        </p:nvSpPr>
        <p:spPr>
          <a:xfrm>
            <a:off x="2907908" y="784492"/>
            <a:ext cx="682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Exemple résultat de l’analyse avec IA (rapport </a:t>
            </a:r>
            <a:r>
              <a:rPr lang="fr-FR" sz="20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Stellantis</a:t>
            </a:r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28CA8D-FD2F-C98F-902B-16A6479E5D5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29" b="41090"/>
          <a:stretch>
            <a:fillRect/>
          </a:stretch>
        </p:blipFill>
        <p:spPr bwMode="auto">
          <a:xfrm>
            <a:off x="1315454" y="1184602"/>
            <a:ext cx="9707516" cy="50333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0F2AE4-E342-B0A2-BB80-5BE8B855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5562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12138-37B1-0345-8F14-AEC5A9DA0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213FB12-4D5C-4468-7984-7B27D40EE86F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F2E6DD-8C6B-5480-A05E-A52C6E0D6999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796C82-110F-1A37-3964-31D51E535CE3}"/>
              </a:ext>
            </a:extLst>
          </p:cNvPr>
          <p:cNvSpPr txBox="1"/>
          <p:nvPr/>
        </p:nvSpPr>
        <p:spPr>
          <a:xfrm>
            <a:off x="1566041" y="207780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Réalisation et Démonstration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CA6E53-7C89-2568-F5A6-EB244F08F9F6}"/>
              </a:ext>
            </a:extLst>
          </p:cNvPr>
          <p:cNvSpPr txBox="1"/>
          <p:nvPr/>
        </p:nvSpPr>
        <p:spPr>
          <a:xfrm>
            <a:off x="2907908" y="784492"/>
            <a:ext cx="682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Exemple résultat de l’analyse avec IA (rapport </a:t>
            </a:r>
            <a:r>
              <a:rPr lang="fr-FR" sz="20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Stellantis</a:t>
            </a:r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)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7E52D6-9B70-3EC9-C537-88A8026CEC5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01"/>
          <a:stretch>
            <a:fillRect/>
          </a:stretch>
        </p:blipFill>
        <p:spPr bwMode="auto">
          <a:xfrm>
            <a:off x="1331495" y="1332479"/>
            <a:ext cx="9176084" cy="487913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31B8B-31C5-E2C3-3885-908B48E0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1961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BCBA88-FA62-C291-7669-5A730E26A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816BE43-8532-7700-B786-7C9B4F44EAD0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82D8C5-B09E-DF59-8F60-E1AC0762DE49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0E1AD4-6AD1-0E2E-47C2-BE13A795556E}"/>
              </a:ext>
            </a:extLst>
          </p:cNvPr>
          <p:cNvSpPr txBox="1"/>
          <p:nvPr/>
        </p:nvSpPr>
        <p:spPr>
          <a:xfrm>
            <a:off x="1566041" y="207780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Réalisation et Démonstration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F263F-30EE-A52D-F0F1-F5A2EDA778CE}"/>
              </a:ext>
            </a:extLst>
          </p:cNvPr>
          <p:cNvSpPr txBox="1"/>
          <p:nvPr/>
        </p:nvSpPr>
        <p:spPr>
          <a:xfrm>
            <a:off x="2907908" y="784492"/>
            <a:ext cx="682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Choix de l’analyse avec mots-clés ESRS</a:t>
            </a:r>
          </a:p>
        </p:txBody>
      </p:sp>
      <p:pic>
        <p:nvPicPr>
          <p:cNvPr id="4" name="Picture 3" descr="A screenshot of a chat&#10;&#10;AI-generated content may be incorrect.">
            <a:extLst>
              <a:ext uri="{FF2B5EF4-FFF2-40B4-BE49-F238E27FC236}">
                <a16:creationId xmlns:a16="http://schemas.microsoft.com/office/drawing/2014/main" id="{D672455F-1C06-24E8-F088-ECC547F9641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797"/>
          <a:stretch>
            <a:fillRect/>
          </a:stretch>
        </p:blipFill>
        <p:spPr bwMode="auto">
          <a:xfrm>
            <a:off x="2035040" y="1184602"/>
            <a:ext cx="8384678" cy="51270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58CAD4-84A3-A376-FD81-84067963F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2954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F92A32-EB84-5C1E-42AE-CF7B07049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EF03EF8-EB83-9818-0670-33CB535EB851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0320F5-0559-E322-2025-B01F0F481FC6}"/>
              </a:ext>
            </a:extLst>
          </p:cNvPr>
          <p:cNvSpPr txBox="1"/>
          <p:nvPr/>
        </p:nvSpPr>
        <p:spPr>
          <a:xfrm>
            <a:off x="3192079" y="638104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C59F03-6F11-CF3F-DBB7-A677868F91EF}"/>
              </a:ext>
            </a:extLst>
          </p:cNvPr>
          <p:cNvSpPr txBox="1"/>
          <p:nvPr/>
        </p:nvSpPr>
        <p:spPr>
          <a:xfrm>
            <a:off x="1566041" y="207780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Réalisation et Démonstration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000D6B-319F-3F06-8B66-4611899385CE}"/>
              </a:ext>
            </a:extLst>
          </p:cNvPr>
          <p:cNvSpPr txBox="1"/>
          <p:nvPr/>
        </p:nvSpPr>
        <p:spPr>
          <a:xfrm>
            <a:off x="2907908" y="784492"/>
            <a:ext cx="682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Choix de l’analyse avec mots-clés ESRS</a:t>
            </a:r>
          </a:p>
        </p:txBody>
      </p:sp>
      <p:pic>
        <p:nvPicPr>
          <p:cNvPr id="6" name="Picture 5" descr="A screenshot of a chat&#10;&#10;AI-generated content may be incorrect.">
            <a:extLst>
              <a:ext uri="{FF2B5EF4-FFF2-40B4-BE49-F238E27FC236}">
                <a16:creationId xmlns:a16="http://schemas.microsoft.com/office/drawing/2014/main" id="{68163490-E85F-09E2-B05A-2D106BCD042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35" b="29260"/>
          <a:stretch>
            <a:fillRect/>
          </a:stretch>
        </p:blipFill>
        <p:spPr bwMode="auto">
          <a:xfrm>
            <a:off x="1367175" y="1184601"/>
            <a:ext cx="9322676" cy="519644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D3A24-3E51-893A-FA54-FF877CE82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1033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D34BBB-8B22-764A-F00C-94AA3045A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7AF5E99-4BA3-A8F7-BF41-AC85FD5CD7AA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92EF0C-40C8-D656-E545-A082CCD503CE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6A0670-4480-6B61-12BE-573A79C26AEA}"/>
              </a:ext>
            </a:extLst>
          </p:cNvPr>
          <p:cNvSpPr txBox="1"/>
          <p:nvPr/>
        </p:nvSpPr>
        <p:spPr>
          <a:xfrm>
            <a:off x="1566041" y="207780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Réalisation et Démonstration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8BD64C-219C-E3D2-9E53-DE60200433F9}"/>
              </a:ext>
            </a:extLst>
          </p:cNvPr>
          <p:cNvSpPr txBox="1"/>
          <p:nvPr/>
        </p:nvSpPr>
        <p:spPr>
          <a:xfrm>
            <a:off x="2907908" y="784492"/>
            <a:ext cx="682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Cas Comparaison de 2 rapports avec IA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709D2B-13A5-4F6B-95CE-FBCD39D285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041" y="1184602"/>
            <a:ext cx="9322676" cy="502701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C5382-82EC-F2FB-CF71-ABC54FD4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1511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22F40E-17F1-58F8-4D34-9601002D1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A991580-9848-4B34-E4DF-156E7CB1C6EE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FA0F3F-510F-F698-37E5-CA1BFD2C89AD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03D646-9787-FE99-226B-DEADFD75D4AD}"/>
              </a:ext>
            </a:extLst>
          </p:cNvPr>
          <p:cNvSpPr txBox="1"/>
          <p:nvPr/>
        </p:nvSpPr>
        <p:spPr>
          <a:xfrm>
            <a:off x="1566041" y="207780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Réalisation et Démonstration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B5E1B-D87F-E17C-5A78-05345FC02358}"/>
              </a:ext>
            </a:extLst>
          </p:cNvPr>
          <p:cNvSpPr txBox="1"/>
          <p:nvPr/>
        </p:nvSpPr>
        <p:spPr>
          <a:xfrm>
            <a:off x="2907908" y="784492"/>
            <a:ext cx="682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Exemple Résultat (rapports </a:t>
            </a:r>
            <a:r>
              <a:rPr lang="fr-FR" sz="20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Stellantis</a:t>
            </a:r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et Renault)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CADD01-BF65-5B30-7136-1B623E4B92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863" y="1147162"/>
            <a:ext cx="8749032" cy="506445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ED905E-0899-9FA3-686C-282C3D8E8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5868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BFD97-01E5-2F19-9ABF-24A6C7C9D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34DB2A2-2C69-AB89-3276-E9BAB42F3FC3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A89656-511F-2BE7-3278-F3EC01CC9B1A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D7546E-7758-8CB0-B5A8-8BBBFDF20AA7}"/>
              </a:ext>
            </a:extLst>
          </p:cNvPr>
          <p:cNvSpPr txBox="1"/>
          <p:nvPr/>
        </p:nvSpPr>
        <p:spPr>
          <a:xfrm>
            <a:off x="1566041" y="207780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Réalisation et Démonstration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4D7599-9FAD-3E28-3309-32B6B786A037}"/>
              </a:ext>
            </a:extLst>
          </p:cNvPr>
          <p:cNvSpPr txBox="1"/>
          <p:nvPr/>
        </p:nvSpPr>
        <p:spPr>
          <a:xfrm>
            <a:off x="2907908" y="784492"/>
            <a:ext cx="682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Cas comparaison de 2 rapports avec mots-clés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4F0352-A94E-8A4D-7F1C-110A306721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874" y="1228453"/>
            <a:ext cx="10017742" cy="498316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A3533-EDBF-ED40-0203-F24E5EBA7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9560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CB16F9-A26B-9268-9953-9B6545774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1E24C83-40CC-FE49-2217-80BA95BB1D9F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7ADFB4-6D66-3B56-85EF-CB6F7FC21FFE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87FBD1-2367-36DD-A941-99D5E94DCB56}"/>
              </a:ext>
            </a:extLst>
          </p:cNvPr>
          <p:cNvSpPr txBox="1"/>
          <p:nvPr/>
        </p:nvSpPr>
        <p:spPr>
          <a:xfrm>
            <a:off x="1566041" y="207780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Réalisation et Démonstration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6556A-690A-BCF5-5F65-7B8F39F6AEBB}"/>
              </a:ext>
            </a:extLst>
          </p:cNvPr>
          <p:cNvSpPr txBox="1"/>
          <p:nvPr/>
        </p:nvSpPr>
        <p:spPr>
          <a:xfrm>
            <a:off x="2907908" y="784492"/>
            <a:ext cx="682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Page Profil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8BA4EA-DE48-8221-D3A5-DCB80A40FF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266" y="1761314"/>
            <a:ext cx="8194934" cy="285088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0C7183-8F94-D261-559F-6EDF1ECCD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3482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4E221-7DEB-EA93-E671-49FF4099D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0999910-C248-6D44-4FAA-E10E477EDD75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C3CAB2-2042-B7B4-304D-838E9299124E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47DBF1-4D80-78DE-965F-6244C43030D3}"/>
              </a:ext>
            </a:extLst>
          </p:cNvPr>
          <p:cNvSpPr txBox="1"/>
          <p:nvPr/>
        </p:nvSpPr>
        <p:spPr>
          <a:xfrm>
            <a:off x="1566041" y="207780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Réalisation et Démonstration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65E361-3BBB-AF5B-A4B9-52747CB1ED16}"/>
              </a:ext>
            </a:extLst>
          </p:cNvPr>
          <p:cNvSpPr txBox="1"/>
          <p:nvPr/>
        </p:nvSpPr>
        <p:spPr>
          <a:xfrm>
            <a:off x="2907908" y="784492"/>
            <a:ext cx="682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Page Historique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E15F70-EF66-0D8E-DFE7-F68335DB16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2448"/>
          <a:stretch>
            <a:fillRect/>
          </a:stretch>
        </p:blipFill>
        <p:spPr bwMode="auto">
          <a:xfrm>
            <a:off x="1710019" y="1290925"/>
            <a:ext cx="8771962" cy="49206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8D6F9-95B7-C64E-082E-6C63CBEE7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7461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918F7A-6B48-D664-9A35-C4144FC31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7B382D-4731-9FEF-181E-1F83F2A6170D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E10987-36DE-2C54-F407-BD413D772E8C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DB3770-4F69-A197-21E8-8A9218DA58AC}"/>
              </a:ext>
            </a:extLst>
          </p:cNvPr>
          <p:cNvSpPr txBox="1"/>
          <p:nvPr/>
        </p:nvSpPr>
        <p:spPr>
          <a:xfrm>
            <a:off x="1566041" y="207780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Réalisation et Démonstration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0DAA87-898F-5E89-B7EE-A481CDBD74F6}"/>
              </a:ext>
            </a:extLst>
          </p:cNvPr>
          <p:cNvSpPr txBox="1"/>
          <p:nvPr/>
        </p:nvSpPr>
        <p:spPr>
          <a:xfrm>
            <a:off x="2907908" y="784492"/>
            <a:ext cx="682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Page Historique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07EF1D-5546-3458-A00F-C767FF3C17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152"/>
          <a:stretch>
            <a:fillRect/>
          </a:stretch>
        </p:blipFill>
        <p:spPr bwMode="auto">
          <a:xfrm>
            <a:off x="2058068" y="1184602"/>
            <a:ext cx="8101263" cy="50507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F6B4D0-5E4D-5B1F-13A4-0CD9233FD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025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FC9F5-08BD-235C-D549-9BA269191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7A999C7-4855-55D1-4E0D-06C583BD7EF0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1B15DF-1E2C-7068-FB01-3CD06EF981C1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F85453-9422-601B-3577-CA0BE07DF545}"/>
              </a:ext>
            </a:extLst>
          </p:cNvPr>
          <p:cNvSpPr txBox="1"/>
          <p:nvPr/>
        </p:nvSpPr>
        <p:spPr>
          <a:xfrm>
            <a:off x="1566041" y="207780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Réalisation et Démonstration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FDD78-F20F-1787-0FB6-D2A7EED26F54}"/>
              </a:ext>
            </a:extLst>
          </p:cNvPr>
          <p:cNvSpPr txBox="1"/>
          <p:nvPr/>
        </p:nvSpPr>
        <p:spPr>
          <a:xfrm>
            <a:off x="2907908" y="784492"/>
            <a:ext cx="682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Page Historique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6DCB55-E8FA-8AF4-20D0-25DAC470A8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642" y="1208499"/>
            <a:ext cx="8134419" cy="500311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CF4F0-2050-EB02-986E-067A9ACA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9785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F2055F-C168-8733-E249-26D21B21C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5A100D5-9DB9-70C1-DFDD-EE7CCF4F9BD9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2FF2E1-C6EC-67A3-F120-A1A1045BB4FD}"/>
              </a:ext>
            </a:extLst>
          </p:cNvPr>
          <p:cNvSpPr/>
          <p:nvPr/>
        </p:nvSpPr>
        <p:spPr>
          <a:xfrm>
            <a:off x="742544" y="5200603"/>
            <a:ext cx="10706911" cy="921062"/>
          </a:xfrm>
          <a:prstGeom prst="roundRect">
            <a:avLst/>
          </a:prstGeom>
          <a:solidFill>
            <a:srgbClr val="E4DB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1D2679-CF0E-80D7-6AB7-070CEC6B2579}"/>
              </a:ext>
            </a:extLst>
          </p:cNvPr>
          <p:cNvSpPr/>
          <p:nvPr/>
        </p:nvSpPr>
        <p:spPr>
          <a:xfrm>
            <a:off x="2660678" y="1388622"/>
            <a:ext cx="6870644" cy="3183377"/>
          </a:xfrm>
          <a:prstGeom prst="roundRect">
            <a:avLst/>
          </a:prstGeom>
          <a:solidFill>
            <a:srgbClr val="E7EEF1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204168-437B-C353-9283-BA4C7D2724AC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3B71B5-4520-F0D2-15A3-F89C6EC64F70}"/>
              </a:ext>
            </a:extLst>
          </p:cNvPr>
          <p:cNvSpPr txBox="1"/>
          <p:nvPr/>
        </p:nvSpPr>
        <p:spPr>
          <a:xfrm>
            <a:off x="1566040" y="371759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Résultats et apports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DCA34-97D7-F75E-B738-EC39782ABCC5}"/>
              </a:ext>
            </a:extLst>
          </p:cNvPr>
          <p:cNvSpPr txBox="1"/>
          <p:nvPr/>
        </p:nvSpPr>
        <p:spPr>
          <a:xfrm>
            <a:off x="2838478" y="1668023"/>
            <a:ext cx="647883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/>
              <a:t>Accélération des audits ESG et analyses plus objectives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/>
              <a:t>Auto-évaluation continue et conformité ESRS garantie</a:t>
            </a:r>
            <a:br>
              <a:rPr lang="fr-FR" sz="2000" b="1" dirty="0"/>
            </a:br>
            <a:r>
              <a:rPr lang="fr-FR" sz="2000" b="1" dirty="0"/>
              <a:t>Différenciation concurrentielle et nouvelle offre ESG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/>
              <a:t>Impact sociétal : démocratisation de l'analyse ESG et accélération de la transition durable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FE5D9A-ECA1-012A-18AE-84E280F9AF8E}"/>
              </a:ext>
            </a:extLst>
          </p:cNvPr>
          <p:cNvSpPr txBox="1"/>
          <p:nvPr/>
        </p:nvSpPr>
        <p:spPr>
          <a:xfrm>
            <a:off x="838200" y="5444557"/>
            <a:ext cx="1055780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7030A0"/>
                </a:solidFill>
              </a:rPr>
              <a:t>Cette solution positionnera les entreprises comme pionnier de l'innovation ESG au Maroc.</a:t>
            </a:r>
          </a:p>
          <a:p>
            <a:endParaRPr lang="fr-F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5AAE49-A64C-9289-C564-C08859B2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28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8817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9CC94-BD39-C0B0-880A-5A84A4BCA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FE53E20-CCEE-A4BD-C4C1-B9F1D054AE46}"/>
              </a:ext>
            </a:extLst>
          </p:cNvPr>
          <p:cNvSpPr/>
          <p:nvPr/>
        </p:nvSpPr>
        <p:spPr>
          <a:xfrm>
            <a:off x="126126" y="107731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94B0CF-FF57-241A-1F20-1656F6A2004B}"/>
              </a:ext>
            </a:extLst>
          </p:cNvPr>
          <p:cNvSpPr/>
          <p:nvPr/>
        </p:nvSpPr>
        <p:spPr>
          <a:xfrm>
            <a:off x="1813479" y="1559116"/>
            <a:ext cx="8565041" cy="4014290"/>
          </a:xfrm>
          <a:prstGeom prst="roundRect">
            <a:avLst/>
          </a:prstGeom>
          <a:solidFill>
            <a:srgbClr val="E7EEF1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4B82BD-689B-66DF-6E00-06DF2B81DDE2}"/>
              </a:ext>
            </a:extLst>
          </p:cNvPr>
          <p:cNvSpPr txBox="1"/>
          <p:nvPr/>
        </p:nvSpPr>
        <p:spPr>
          <a:xfrm>
            <a:off x="3179379" y="63116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dirty="0">
                <a:solidFill>
                  <a:schemeClr val="bg2">
                    <a:lumMod val="75000"/>
                  </a:schemeClr>
                </a:solidFill>
              </a:rPr>
              <a:t>L’IA pour des décisions durables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BAC33E-703A-A35E-C78D-5A748B037651}"/>
              </a:ext>
            </a:extLst>
          </p:cNvPr>
          <p:cNvSpPr txBox="1"/>
          <p:nvPr/>
        </p:nvSpPr>
        <p:spPr>
          <a:xfrm>
            <a:off x="1566040" y="371759"/>
            <a:ext cx="932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Conclusion et perspectives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C8B9D-02BE-F0EC-4A47-F65B2607FAF2}"/>
              </a:ext>
            </a:extLst>
          </p:cNvPr>
          <p:cNvSpPr txBox="1"/>
          <p:nvPr/>
        </p:nvSpPr>
        <p:spPr>
          <a:xfrm>
            <a:off x="2219936" y="1961702"/>
            <a:ext cx="757492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/>
              <a:t>Améliorations techniques</a:t>
            </a:r>
            <a:r>
              <a:rPr lang="fr-FR" sz="2400" dirty="0"/>
              <a:t> : support OCR, analyse d'images, API publique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/>
              <a:t>Extensions fonctionnelles</a:t>
            </a:r>
            <a:r>
              <a:rPr lang="fr-FR" sz="2400" dirty="0"/>
              <a:t> : dimensions Sociale et Gouvernance, </a:t>
            </a:r>
            <a:r>
              <a:rPr lang="fr-FR" sz="2400" dirty="0" err="1"/>
              <a:t>reporting</a:t>
            </a:r>
            <a:r>
              <a:rPr lang="fr-FR" sz="2400" dirty="0"/>
              <a:t> automatisé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/>
              <a:t>Déploiement</a:t>
            </a:r>
            <a:r>
              <a:rPr lang="fr-FR" sz="2400" dirty="0"/>
              <a:t> : version cloud, support multilingue, intégrations ERP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/>
              <a:t>Innovation continue</a:t>
            </a:r>
            <a:r>
              <a:rPr lang="fr-FR" sz="2400" dirty="0"/>
              <a:t> : Machine Learning personnalisé, prédiction de tendances ESG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BE9E6A-F8E3-8314-93AA-9DDD3CFE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29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6962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EC1CC6-6D03-C315-0E0A-1D73283C6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5881610-1852-FB58-511D-932D0B24CFCC}"/>
              </a:ext>
            </a:extLst>
          </p:cNvPr>
          <p:cNvSpPr/>
          <p:nvPr/>
        </p:nvSpPr>
        <p:spPr>
          <a:xfrm>
            <a:off x="126126" y="98206"/>
            <a:ext cx="11929238" cy="6642538"/>
          </a:xfrm>
          <a:prstGeom prst="rect">
            <a:avLst/>
          </a:prstGeom>
          <a:solidFill>
            <a:srgbClr val="F5F1E6"/>
          </a:solidFill>
          <a:ln w="28575">
            <a:gradFill>
              <a:gsLst>
                <a:gs pos="0">
                  <a:srgbClr val="D1C096"/>
                </a:gs>
                <a:gs pos="53000">
                  <a:srgbClr val="7030A0"/>
                </a:gs>
                <a:gs pos="79000">
                  <a:srgbClr val="1F4E79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effectLst>
                <a:glow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53BF7B7-6231-FC05-4B47-894D48FD7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009" y="2548647"/>
            <a:ext cx="10335491" cy="1283122"/>
          </a:xfrm>
        </p:spPr>
        <p:txBody>
          <a:bodyPr>
            <a:noAutofit/>
          </a:bodyPr>
          <a:lstStyle/>
          <a:p>
            <a:r>
              <a:rPr lang="fr-FR" sz="7200" b="1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Merci De Votre Attention</a:t>
            </a:r>
            <a:endParaRPr lang="fr-FR" sz="7200" dirty="0">
              <a:solidFill>
                <a:schemeClr val="accent1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F48E49-FBAA-4E12-E9FE-9E4A3CE2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C4AF0-D434-4FE0-A347-084A7205A2E0}" type="slidenum">
              <a:rPr lang="fr-FR" smtClean="0"/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6232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6007</TotalTime>
  <Words>792</Words>
  <Application>Microsoft Office PowerPoint</Application>
  <PresentationFormat>Widescreen</PresentationFormat>
  <Paragraphs>233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Baskerville Old Face</vt:lpstr>
      <vt:lpstr>Office Theme</vt:lpstr>
      <vt:lpstr>Développement d’une application web intelligente d’analyse ciblée et de comparaison  de rapports ESG.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Merci De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Bouchra Rguibi</dc:creator>
  <cp:lastModifiedBy>Bouchra Rguibi</cp:lastModifiedBy>
  <cp:revision>17</cp:revision>
  <dcterms:created xsi:type="dcterms:W3CDTF">2025-10-28T17:03:16Z</dcterms:created>
  <dcterms:modified xsi:type="dcterms:W3CDTF">2026-05-05T12:45:35Z</dcterms:modified>
</cp:coreProperties>
</file>